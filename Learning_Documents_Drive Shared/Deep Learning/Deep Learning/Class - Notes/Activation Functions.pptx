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56" r:id="rId2"/>
    <p:sldId id="257" r:id="rId3"/>
    <p:sldId id="265" r:id="rId4"/>
    <p:sldId id="266" r:id="rId5"/>
    <p:sldId id="258" r:id="rId6"/>
    <p:sldId id="259" r:id="rId7"/>
    <p:sldId id="267" r:id="rId8"/>
    <p:sldId id="260" r:id="rId9"/>
    <p:sldId id="270" r:id="rId10"/>
    <p:sldId id="261" r:id="rId11"/>
    <p:sldId id="268" r:id="rId12"/>
    <p:sldId id="262" r:id="rId13"/>
    <p:sldId id="271" r:id="rId14"/>
    <p:sldId id="263" r:id="rId15"/>
    <p:sldId id="269" r:id="rId16"/>
    <p:sldId id="264"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1"/>
    <p:restoredTop sz="94713"/>
  </p:normalViewPr>
  <p:slideViewPr>
    <p:cSldViewPr snapToGrid="0">
      <p:cViewPr varScale="1">
        <p:scale>
          <a:sx n="145" d="100"/>
          <a:sy n="145" d="100"/>
        </p:scale>
        <p:origin x="424" y="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7BF132-A006-6D41-8F00-47477D1F8E5F}" type="datetimeFigureOut">
              <a:rPr lang="en-US" smtClean="0"/>
              <a:t>11/25/25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B28644-0232-324F-87D7-59A647237075}" type="slidenum">
              <a:rPr lang="en-US" smtClean="0"/>
              <a:t>‹#›</a:t>
            </a:fld>
            <a:endParaRPr lang="en-US"/>
          </a:p>
        </p:txBody>
      </p:sp>
    </p:spTree>
    <p:extLst>
      <p:ext uri="{BB962C8B-B14F-4D97-AF65-F5344CB8AC3E}">
        <p14:creationId xmlns:p14="http://schemas.microsoft.com/office/powerpoint/2010/main" val="3927934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F55392D5-5C90-BA4B-AD12-71E3796F9E21}" type="datetime1">
              <a:rPr lang="en-IN" smtClean="0"/>
              <a:t>25/11/25</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r>
              <a:rPr lang="en-US"/>
              <a:t>All Rights Reserved : Author @ Rajendra Phani</a:t>
            </a:r>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907420D2-4109-9D49-8EF9-D87C3079BF79}"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11211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0466BA2-B328-4A4D-B780-2FC49BDA240B}" type="datetime1">
              <a:rPr lang="en-IN" smtClean="0"/>
              <a:t>25/11/25</a:t>
            </a:fld>
            <a:endParaRPr lang="en-US"/>
          </a:p>
        </p:txBody>
      </p:sp>
      <p:sp>
        <p:nvSpPr>
          <p:cNvPr id="5" name="Footer Placeholder 4"/>
          <p:cNvSpPr>
            <a:spLocks noGrp="1"/>
          </p:cNvSpPr>
          <p:nvPr>
            <p:ph type="ftr" sz="quarter" idx="11"/>
          </p:nvPr>
        </p:nvSpPr>
        <p:spPr/>
        <p:txBody>
          <a:bodyPr/>
          <a:lstStyle/>
          <a:p>
            <a:r>
              <a:rPr lang="en-US"/>
              <a:t>All Rights Reserved : Author @ Rajendra Phani</a:t>
            </a:r>
          </a:p>
        </p:txBody>
      </p:sp>
      <p:sp>
        <p:nvSpPr>
          <p:cNvPr id="6" name="Slide Number Placeholder 5"/>
          <p:cNvSpPr>
            <a:spLocks noGrp="1"/>
          </p:cNvSpPr>
          <p:nvPr>
            <p:ph type="sldNum" sz="quarter" idx="12"/>
          </p:nvPr>
        </p:nvSpPr>
        <p:spPr/>
        <p:txBody>
          <a:bodyPr/>
          <a:lstStyle/>
          <a:p>
            <a:fld id="{907420D2-4109-9D49-8EF9-D87C3079BF79}" type="slidenum">
              <a:rPr lang="en-US" smtClean="0"/>
              <a:t>‹#›</a:t>
            </a:fld>
            <a:endParaRPr lang="en-US"/>
          </a:p>
        </p:txBody>
      </p:sp>
    </p:spTree>
    <p:extLst>
      <p:ext uri="{BB962C8B-B14F-4D97-AF65-F5344CB8AC3E}">
        <p14:creationId xmlns:p14="http://schemas.microsoft.com/office/powerpoint/2010/main" val="3458645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CA2A4676-07EF-054B-A5E9-EE7302428255}" type="datetime1">
              <a:rPr lang="en-IN" smtClean="0"/>
              <a:t>25/11/25</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r>
              <a:rPr lang="en-US"/>
              <a:t>All Rights Reserved : Author @ Rajendra Phani</a:t>
            </a:r>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907420D2-4109-9D49-8EF9-D87C3079BF79}"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38271063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8B6E03A-DA2C-5B44-8C6E-BEEA9DD44AA9}" type="datetime1">
              <a:rPr lang="en-IN" smtClean="0"/>
              <a:t>25/11/25</a:t>
            </a:fld>
            <a:endParaRPr lang="en-US"/>
          </a:p>
        </p:txBody>
      </p:sp>
      <p:sp>
        <p:nvSpPr>
          <p:cNvPr id="6" name="Footer Placeholder 5"/>
          <p:cNvSpPr>
            <a:spLocks noGrp="1"/>
          </p:cNvSpPr>
          <p:nvPr>
            <p:ph type="ftr" sz="quarter" idx="11"/>
          </p:nvPr>
        </p:nvSpPr>
        <p:spPr/>
        <p:txBody>
          <a:bodyPr/>
          <a:lstStyle/>
          <a:p>
            <a:r>
              <a:rPr lang="en-US"/>
              <a:t>All Rights Reserved : Author @ Rajendra Phani</a:t>
            </a:r>
          </a:p>
        </p:txBody>
      </p:sp>
      <p:sp>
        <p:nvSpPr>
          <p:cNvPr id="7" name="Slide Number Placeholder 6"/>
          <p:cNvSpPr>
            <a:spLocks noGrp="1"/>
          </p:cNvSpPr>
          <p:nvPr>
            <p:ph type="sldNum" sz="quarter" idx="12"/>
          </p:nvPr>
        </p:nvSpPr>
        <p:spPr/>
        <p:txBody>
          <a:bodyPr/>
          <a:lstStyle/>
          <a:p>
            <a:fld id="{907420D2-4109-9D49-8EF9-D87C3079BF79}" type="slidenum">
              <a:rPr lang="en-US" smtClean="0"/>
              <a:t>‹#›</a:t>
            </a:fld>
            <a:endParaRPr lang="en-US"/>
          </a:p>
        </p:txBody>
      </p:sp>
    </p:spTree>
    <p:extLst>
      <p:ext uri="{BB962C8B-B14F-4D97-AF65-F5344CB8AC3E}">
        <p14:creationId xmlns:p14="http://schemas.microsoft.com/office/powerpoint/2010/main" val="413830427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1E2D0A4-D9B8-3948-9060-D973E8F015AC}" type="datetime1">
              <a:rPr lang="en-IN" smtClean="0"/>
              <a:t>25/11/25</a:t>
            </a:fld>
            <a:endParaRPr lang="en-US"/>
          </a:p>
        </p:txBody>
      </p:sp>
      <p:sp>
        <p:nvSpPr>
          <p:cNvPr id="8" name="Footer Placeholder 7"/>
          <p:cNvSpPr>
            <a:spLocks noGrp="1"/>
          </p:cNvSpPr>
          <p:nvPr>
            <p:ph type="ftr" sz="quarter" idx="11"/>
          </p:nvPr>
        </p:nvSpPr>
        <p:spPr/>
        <p:txBody>
          <a:bodyPr/>
          <a:lstStyle/>
          <a:p>
            <a:r>
              <a:rPr lang="en-US"/>
              <a:t>All Rights Reserved : Author @ Rajendra Phani</a:t>
            </a:r>
          </a:p>
        </p:txBody>
      </p:sp>
      <p:sp>
        <p:nvSpPr>
          <p:cNvPr id="9" name="Slide Number Placeholder 8"/>
          <p:cNvSpPr>
            <a:spLocks noGrp="1"/>
          </p:cNvSpPr>
          <p:nvPr>
            <p:ph type="sldNum" sz="quarter" idx="12"/>
          </p:nvPr>
        </p:nvSpPr>
        <p:spPr/>
        <p:txBody>
          <a:bodyPr/>
          <a:lstStyle/>
          <a:p>
            <a:fld id="{907420D2-4109-9D49-8EF9-D87C3079BF79}" type="slidenum">
              <a:rPr lang="en-US" smtClean="0"/>
              <a:t>‹#›</a:t>
            </a:fld>
            <a:endParaRPr lang="en-US"/>
          </a:p>
        </p:txBody>
      </p:sp>
    </p:spTree>
    <p:extLst>
      <p:ext uri="{BB962C8B-B14F-4D97-AF65-F5344CB8AC3E}">
        <p14:creationId xmlns:p14="http://schemas.microsoft.com/office/powerpoint/2010/main" val="418496984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093875A-44CA-7046-8046-A8E3D7E71B11}" type="datetime1">
              <a:rPr lang="en-IN" smtClean="0"/>
              <a:t>25/11/25</a:t>
            </a:fld>
            <a:endParaRPr lang="en-US"/>
          </a:p>
        </p:txBody>
      </p:sp>
      <p:sp>
        <p:nvSpPr>
          <p:cNvPr id="4" name="Footer Placeholder 3"/>
          <p:cNvSpPr>
            <a:spLocks noGrp="1"/>
          </p:cNvSpPr>
          <p:nvPr>
            <p:ph type="ftr" sz="quarter" idx="11"/>
          </p:nvPr>
        </p:nvSpPr>
        <p:spPr/>
        <p:txBody>
          <a:bodyPr/>
          <a:lstStyle/>
          <a:p>
            <a:r>
              <a:rPr lang="en-US"/>
              <a:t>All Rights Reserved : Author @ Rajendra Phani</a:t>
            </a:r>
          </a:p>
        </p:txBody>
      </p:sp>
      <p:sp>
        <p:nvSpPr>
          <p:cNvPr id="5" name="Slide Number Placeholder 4"/>
          <p:cNvSpPr>
            <a:spLocks noGrp="1"/>
          </p:cNvSpPr>
          <p:nvPr>
            <p:ph type="sldNum" sz="quarter" idx="12"/>
          </p:nvPr>
        </p:nvSpPr>
        <p:spPr/>
        <p:txBody>
          <a:bodyPr/>
          <a:lstStyle/>
          <a:p>
            <a:fld id="{907420D2-4109-9D49-8EF9-D87C3079BF79}" type="slidenum">
              <a:rPr lang="en-US" smtClean="0"/>
              <a:t>‹#›</a:t>
            </a:fld>
            <a:endParaRPr lang="en-US"/>
          </a:p>
        </p:txBody>
      </p:sp>
    </p:spTree>
    <p:extLst>
      <p:ext uri="{BB962C8B-B14F-4D97-AF65-F5344CB8AC3E}">
        <p14:creationId xmlns:p14="http://schemas.microsoft.com/office/powerpoint/2010/main" val="2311190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C20201-FEEB-4746-9DF0-1501ADAA2192}" type="datetime1">
              <a:rPr lang="en-IN" smtClean="0"/>
              <a:t>25/11/25</a:t>
            </a:fld>
            <a:endParaRPr lang="en-US"/>
          </a:p>
        </p:txBody>
      </p:sp>
      <p:sp>
        <p:nvSpPr>
          <p:cNvPr id="3" name="Footer Placeholder 2"/>
          <p:cNvSpPr>
            <a:spLocks noGrp="1"/>
          </p:cNvSpPr>
          <p:nvPr>
            <p:ph type="ftr" sz="quarter" idx="11"/>
          </p:nvPr>
        </p:nvSpPr>
        <p:spPr/>
        <p:txBody>
          <a:bodyPr/>
          <a:lstStyle/>
          <a:p>
            <a:r>
              <a:rPr lang="en-US"/>
              <a:t>All Rights Reserved : Author @ Rajendra Phani</a:t>
            </a:r>
          </a:p>
        </p:txBody>
      </p:sp>
      <p:sp>
        <p:nvSpPr>
          <p:cNvPr id="4" name="Slide Number Placeholder 3"/>
          <p:cNvSpPr>
            <a:spLocks noGrp="1"/>
          </p:cNvSpPr>
          <p:nvPr>
            <p:ph type="sldNum" sz="quarter" idx="12"/>
          </p:nvPr>
        </p:nvSpPr>
        <p:spPr/>
        <p:txBody>
          <a:bodyPr/>
          <a:lstStyle/>
          <a:p>
            <a:fld id="{907420D2-4109-9D49-8EF9-D87C3079BF79}" type="slidenum">
              <a:rPr lang="en-US" smtClean="0"/>
              <a:t>‹#›</a:t>
            </a:fld>
            <a:endParaRPr lang="en-US"/>
          </a:p>
        </p:txBody>
      </p:sp>
    </p:spTree>
    <p:extLst>
      <p:ext uri="{BB962C8B-B14F-4D97-AF65-F5344CB8AC3E}">
        <p14:creationId xmlns:p14="http://schemas.microsoft.com/office/powerpoint/2010/main" val="1463939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EAC17665-5F07-A340-B454-E534F73DBF42}" type="datetime1">
              <a:rPr lang="en-IN" smtClean="0"/>
              <a:t>25/11/25</a:t>
            </a:fld>
            <a:endParaRPr lang="en-US"/>
          </a:p>
        </p:txBody>
      </p:sp>
      <p:sp>
        <p:nvSpPr>
          <p:cNvPr id="6" name="Footer Placeholder 5"/>
          <p:cNvSpPr>
            <a:spLocks noGrp="1"/>
          </p:cNvSpPr>
          <p:nvPr>
            <p:ph type="ftr" sz="quarter" idx="11"/>
          </p:nvPr>
        </p:nvSpPr>
        <p:spPr>
          <a:xfrm>
            <a:off x="2103620" y="6375679"/>
            <a:ext cx="3482179" cy="345796"/>
          </a:xfrm>
        </p:spPr>
        <p:txBody>
          <a:bodyPr/>
          <a:lstStyle/>
          <a:p>
            <a:r>
              <a:rPr lang="en-US"/>
              <a:t>All Rights Reserved : Author @ Rajendra Phani</a:t>
            </a:r>
          </a:p>
        </p:txBody>
      </p:sp>
      <p:sp>
        <p:nvSpPr>
          <p:cNvPr id="7" name="Slide Number Placeholder 6"/>
          <p:cNvSpPr>
            <a:spLocks noGrp="1"/>
          </p:cNvSpPr>
          <p:nvPr>
            <p:ph type="sldNum" sz="quarter" idx="12"/>
          </p:nvPr>
        </p:nvSpPr>
        <p:spPr>
          <a:xfrm>
            <a:off x="5691014" y="6375679"/>
            <a:ext cx="1232456" cy="345796"/>
          </a:xfrm>
        </p:spPr>
        <p:txBody>
          <a:bodyPr/>
          <a:lstStyle/>
          <a:p>
            <a:fld id="{907420D2-4109-9D49-8EF9-D87C3079BF79}"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0352038"/>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F2BFD8D2-AFFB-3645-A078-46DDD1BAB8A2}" type="datetime1">
              <a:rPr lang="en-IN" smtClean="0"/>
              <a:t>25/11/25</a:t>
            </a:fld>
            <a:endParaRPr lang="en-US"/>
          </a:p>
        </p:txBody>
      </p:sp>
      <p:sp>
        <p:nvSpPr>
          <p:cNvPr id="6" name="Footer Placeholder 5"/>
          <p:cNvSpPr>
            <a:spLocks noGrp="1"/>
          </p:cNvSpPr>
          <p:nvPr>
            <p:ph type="ftr" sz="quarter" idx="11"/>
          </p:nvPr>
        </p:nvSpPr>
        <p:spPr>
          <a:xfrm>
            <a:off x="2103621" y="6375679"/>
            <a:ext cx="3482178" cy="345796"/>
          </a:xfrm>
        </p:spPr>
        <p:txBody>
          <a:bodyPr/>
          <a:lstStyle/>
          <a:p>
            <a:r>
              <a:rPr lang="en-US"/>
              <a:t>All Rights Reserved : Author @ Rajendra Phani</a:t>
            </a:r>
          </a:p>
        </p:txBody>
      </p:sp>
      <p:sp>
        <p:nvSpPr>
          <p:cNvPr id="7" name="Slide Number Placeholder 6"/>
          <p:cNvSpPr>
            <a:spLocks noGrp="1"/>
          </p:cNvSpPr>
          <p:nvPr>
            <p:ph type="sldNum" sz="quarter" idx="12"/>
          </p:nvPr>
        </p:nvSpPr>
        <p:spPr>
          <a:xfrm>
            <a:off x="5687568" y="6375679"/>
            <a:ext cx="1234440" cy="345796"/>
          </a:xfrm>
        </p:spPr>
        <p:txBody>
          <a:bodyPr/>
          <a:lstStyle/>
          <a:p>
            <a:fld id="{907420D2-4109-9D49-8EF9-D87C3079BF79}" type="slidenum">
              <a:rPr lang="en-US" smtClean="0"/>
              <a:t>‹#›</a:t>
            </a:fld>
            <a:endParaRPr lang="en-US"/>
          </a:p>
        </p:txBody>
      </p:sp>
    </p:spTree>
    <p:extLst>
      <p:ext uri="{BB962C8B-B14F-4D97-AF65-F5344CB8AC3E}">
        <p14:creationId xmlns:p14="http://schemas.microsoft.com/office/powerpoint/2010/main" val="1177610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7E2BA8F-2ADF-E54B-B6C7-F067C38F06C3}" type="datetime1">
              <a:rPr lang="en-IN" smtClean="0"/>
              <a:t>25/11/25</a:t>
            </a:fld>
            <a:endParaRPr lang="en-US"/>
          </a:p>
        </p:txBody>
      </p:sp>
      <p:sp>
        <p:nvSpPr>
          <p:cNvPr id="5" name="Footer Placeholder 4"/>
          <p:cNvSpPr>
            <a:spLocks noGrp="1"/>
          </p:cNvSpPr>
          <p:nvPr>
            <p:ph type="ftr" sz="quarter" idx="11"/>
          </p:nvPr>
        </p:nvSpPr>
        <p:spPr/>
        <p:txBody>
          <a:bodyPr/>
          <a:lstStyle/>
          <a:p>
            <a:r>
              <a:rPr lang="en-US"/>
              <a:t>All Rights Reserved : Author @ Rajendra Phani</a:t>
            </a:r>
          </a:p>
        </p:txBody>
      </p:sp>
      <p:sp>
        <p:nvSpPr>
          <p:cNvPr id="6" name="Slide Number Placeholder 5"/>
          <p:cNvSpPr>
            <a:spLocks noGrp="1"/>
          </p:cNvSpPr>
          <p:nvPr>
            <p:ph type="sldNum" sz="quarter" idx="12"/>
          </p:nvPr>
        </p:nvSpPr>
        <p:spPr/>
        <p:txBody>
          <a:bodyPr/>
          <a:lstStyle/>
          <a:p>
            <a:fld id="{907420D2-4109-9D49-8EF9-D87C3079BF79}" type="slidenum">
              <a:rPr lang="en-US" smtClean="0"/>
              <a:t>‹#›</a:t>
            </a:fld>
            <a:endParaRPr lang="en-US"/>
          </a:p>
        </p:txBody>
      </p:sp>
    </p:spTree>
    <p:extLst>
      <p:ext uri="{BB962C8B-B14F-4D97-AF65-F5344CB8AC3E}">
        <p14:creationId xmlns:p14="http://schemas.microsoft.com/office/powerpoint/2010/main" val="1963819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260F9FF-F6FC-554A-9FF1-6FD350E9B53D}" type="datetime1">
              <a:rPr lang="en-IN" smtClean="0"/>
              <a:t>25/11/25</a:t>
            </a:fld>
            <a:endParaRPr lang="en-US"/>
          </a:p>
        </p:txBody>
      </p:sp>
      <p:sp>
        <p:nvSpPr>
          <p:cNvPr id="5" name="Footer Placeholder 4"/>
          <p:cNvSpPr>
            <a:spLocks noGrp="1"/>
          </p:cNvSpPr>
          <p:nvPr>
            <p:ph type="ftr" sz="quarter" idx="11"/>
          </p:nvPr>
        </p:nvSpPr>
        <p:spPr/>
        <p:txBody>
          <a:bodyPr/>
          <a:lstStyle/>
          <a:p>
            <a:r>
              <a:rPr lang="en-US"/>
              <a:t>All Rights Reserved : Author @ Rajendra Phani</a:t>
            </a:r>
          </a:p>
        </p:txBody>
      </p:sp>
      <p:sp>
        <p:nvSpPr>
          <p:cNvPr id="6" name="Slide Number Placeholder 5"/>
          <p:cNvSpPr>
            <a:spLocks noGrp="1"/>
          </p:cNvSpPr>
          <p:nvPr>
            <p:ph type="sldNum" sz="quarter" idx="12"/>
          </p:nvPr>
        </p:nvSpPr>
        <p:spPr/>
        <p:txBody>
          <a:bodyPr/>
          <a:lstStyle/>
          <a:p>
            <a:fld id="{907420D2-4109-9D49-8EF9-D87C3079BF79}" type="slidenum">
              <a:rPr lang="en-US" smtClean="0"/>
              <a:t>‹#›</a:t>
            </a:fld>
            <a:endParaRPr lang="en-US"/>
          </a:p>
        </p:txBody>
      </p:sp>
    </p:spTree>
    <p:extLst>
      <p:ext uri="{BB962C8B-B14F-4D97-AF65-F5344CB8AC3E}">
        <p14:creationId xmlns:p14="http://schemas.microsoft.com/office/powerpoint/2010/main" val="4079964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E6BFC9EC-DC68-6344-A694-873B2F186517}" type="datetime1">
              <a:rPr lang="en-IN" smtClean="0"/>
              <a:t>25/11/25</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r>
              <a:rPr lang="en-US"/>
              <a:t>All Rights Reserved : Author @ Rajendra Phani</a:t>
            </a:r>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907420D2-4109-9D49-8EF9-D87C3079BF79}"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259649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30C5-402E-EA40-1BC5-DD4F94CC5178}"/>
              </a:ext>
            </a:extLst>
          </p:cNvPr>
          <p:cNvSpPr>
            <a:spLocks noGrp="1"/>
          </p:cNvSpPr>
          <p:nvPr>
            <p:ph type="ctrTitle"/>
          </p:nvPr>
        </p:nvSpPr>
        <p:spPr/>
        <p:txBody>
          <a:bodyPr/>
          <a:lstStyle/>
          <a:p>
            <a:r>
              <a:rPr lang="en-US" dirty="0"/>
              <a:t>Activation Functions</a:t>
            </a:r>
          </a:p>
        </p:txBody>
      </p:sp>
      <p:sp>
        <p:nvSpPr>
          <p:cNvPr id="3" name="Footer Placeholder 2">
            <a:extLst>
              <a:ext uri="{FF2B5EF4-FFF2-40B4-BE49-F238E27FC236}">
                <a16:creationId xmlns:a16="http://schemas.microsoft.com/office/drawing/2014/main" id="{28F353B1-E902-22F0-86A4-2F9A1F864995}"/>
              </a:ext>
            </a:extLst>
          </p:cNvPr>
          <p:cNvSpPr>
            <a:spLocks noGrp="1"/>
          </p:cNvSpPr>
          <p:nvPr>
            <p:ph type="ftr" sz="quarter" idx="11"/>
          </p:nvPr>
        </p:nvSpPr>
        <p:spPr/>
        <p:txBody>
          <a:bodyPr/>
          <a:lstStyle/>
          <a:p>
            <a:r>
              <a:rPr lang="en-US"/>
              <a:t>All Rights Reserved : Author @ Rajendra Phani</a:t>
            </a:r>
          </a:p>
        </p:txBody>
      </p:sp>
      <p:sp>
        <p:nvSpPr>
          <p:cNvPr id="4" name="Slide Number Placeholder 3">
            <a:extLst>
              <a:ext uri="{FF2B5EF4-FFF2-40B4-BE49-F238E27FC236}">
                <a16:creationId xmlns:a16="http://schemas.microsoft.com/office/drawing/2014/main" id="{813CBAB8-FDB6-041B-402A-2B705B34FC50}"/>
              </a:ext>
            </a:extLst>
          </p:cNvPr>
          <p:cNvSpPr>
            <a:spLocks noGrp="1"/>
          </p:cNvSpPr>
          <p:nvPr>
            <p:ph type="sldNum" sz="quarter" idx="12"/>
          </p:nvPr>
        </p:nvSpPr>
        <p:spPr/>
        <p:txBody>
          <a:bodyPr/>
          <a:lstStyle/>
          <a:p>
            <a:fld id="{907420D2-4109-9D49-8EF9-D87C3079BF79}" type="slidenum">
              <a:rPr lang="en-US" smtClean="0"/>
              <a:t>1</a:t>
            </a:fld>
            <a:endParaRPr lang="en-US"/>
          </a:p>
        </p:txBody>
      </p:sp>
    </p:spTree>
    <p:extLst>
      <p:ext uri="{BB962C8B-B14F-4D97-AF65-F5344CB8AC3E}">
        <p14:creationId xmlns:p14="http://schemas.microsoft.com/office/powerpoint/2010/main" val="1522071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E09B0-0F6F-8CE2-CB1A-9E5661C43423}"/>
              </a:ext>
            </a:extLst>
          </p:cNvPr>
          <p:cNvSpPr>
            <a:spLocks noGrp="1"/>
          </p:cNvSpPr>
          <p:nvPr>
            <p:ph type="title"/>
          </p:nvPr>
        </p:nvSpPr>
        <p:spPr>
          <a:xfrm>
            <a:off x="838200" y="365125"/>
            <a:ext cx="10515600" cy="1054601"/>
          </a:xfrm>
        </p:spPr>
        <p:txBody>
          <a:bodyPr>
            <a:normAutofit fontScale="90000"/>
          </a:bodyPr>
          <a:lstStyle/>
          <a:p>
            <a:r>
              <a:rPr lang="en-IN" b="1" dirty="0"/>
              <a:t>1. </a:t>
            </a:r>
            <a:r>
              <a:rPr lang="en-IN" b="1" dirty="0" err="1"/>
              <a:t>ReLU</a:t>
            </a:r>
            <a:r>
              <a:rPr lang="en-IN" b="1" dirty="0"/>
              <a:t> (Rectified Linear Unit)</a:t>
            </a:r>
            <a:br>
              <a:rPr lang="en-IN" b="1" dirty="0"/>
            </a:br>
            <a:endParaRPr lang="en-US" dirty="0"/>
          </a:p>
        </p:txBody>
      </p:sp>
      <p:sp>
        <p:nvSpPr>
          <p:cNvPr id="3" name="Content Placeholder 2">
            <a:extLst>
              <a:ext uri="{FF2B5EF4-FFF2-40B4-BE49-F238E27FC236}">
                <a16:creationId xmlns:a16="http://schemas.microsoft.com/office/drawing/2014/main" id="{355C3ABC-9450-F5D8-20D6-B72F4DBDE4B4}"/>
              </a:ext>
            </a:extLst>
          </p:cNvPr>
          <p:cNvSpPr>
            <a:spLocks noGrp="1"/>
          </p:cNvSpPr>
          <p:nvPr>
            <p:ph idx="1"/>
          </p:nvPr>
        </p:nvSpPr>
        <p:spPr>
          <a:xfrm>
            <a:off x="838200" y="1419726"/>
            <a:ext cx="10515600" cy="4757237"/>
          </a:xfrm>
        </p:spPr>
        <p:txBody>
          <a:bodyPr>
            <a:normAutofit/>
          </a:bodyPr>
          <a:lstStyle/>
          <a:p>
            <a:r>
              <a:rPr lang="en-IN" dirty="0"/>
              <a:t>f(x) = max(0, x)</a:t>
            </a:r>
            <a:br>
              <a:rPr lang="en-IN" dirty="0"/>
            </a:br>
            <a:r>
              <a:rPr lang="en-IN" i="1" dirty="0"/>
              <a:t>Outputs 0 for negative inputs, keeps positive values unchanged.</a:t>
            </a:r>
            <a:endParaRPr lang="en-IN" dirty="0"/>
          </a:p>
          <a:p>
            <a:pPr marL="0" indent="0">
              <a:buNone/>
            </a:pPr>
            <a:r>
              <a:rPr lang="en-IN" b="1" dirty="0"/>
              <a:t>Why we use it</a:t>
            </a:r>
          </a:p>
          <a:p>
            <a:r>
              <a:rPr lang="en-IN" b="1" dirty="0"/>
              <a:t>Fast computation</a:t>
            </a:r>
            <a:r>
              <a:rPr lang="en-IN" dirty="0"/>
              <a:t>: No exponentials or trigonometric functions → faster than sigmoid/tanh</a:t>
            </a:r>
          </a:p>
          <a:p>
            <a:r>
              <a:rPr lang="en-IN" b="1" dirty="0"/>
              <a:t>Solves vanishing gradients</a:t>
            </a:r>
            <a:r>
              <a:rPr lang="en-IN" dirty="0"/>
              <a:t>: Doesn't saturate for positive inputs (unlike sigmoid/tanh)</a:t>
            </a:r>
          </a:p>
          <a:p>
            <a:r>
              <a:rPr lang="en-IN" b="1" dirty="0"/>
              <a:t>Natural fit for hidden layers</a:t>
            </a:r>
            <a:r>
              <a:rPr lang="en-IN" dirty="0"/>
              <a:t> in deep networks (especially CNNs, RNNs)</a:t>
            </a:r>
          </a:p>
          <a:p>
            <a:r>
              <a:rPr lang="en-IN" b="1" dirty="0"/>
              <a:t>Great for non-negative data</a:t>
            </a:r>
            <a:r>
              <a:rPr lang="en-IN" dirty="0"/>
              <a:t>: Perfect when your sine wave data has positive peaks</a:t>
            </a:r>
          </a:p>
          <a:p>
            <a:pPr marL="0" indent="0">
              <a:buNone/>
            </a:pPr>
            <a:br>
              <a:rPr lang="en-IN" dirty="0"/>
            </a:br>
            <a:endParaRPr lang="en-US" dirty="0"/>
          </a:p>
        </p:txBody>
      </p:sp>
      <p:sp>
        <p:nvSpPr>
          <p:cNvPr id="4" name="Footer Placeholder 3">
            <a:extLst>
              <a:ext uri="{FF2B5EF4-FFF2-40B4-BE49-F238E27FC236}">
                <a16:creationId xmlns:a16="http://schemas.microsoft.com/office/drawing/2014/main" id="{0596AB5B-B9A0-0B39-D1E4-25CC7E67D7C1}"/>
              </a:ext>
            </a:extLst>
          </p:cNvPr>
          <p:cNvSpPr>
            <a:spLocks noGrp="1"/>
          </p:cNvSpPr>
          <p:nvPr>
            <p:ph type="ftr" sz="quarter" idx="11"/>
          </p:nvPr>
        </p:nvSpPr>
        <p:spPr/>
        <p:txBody>
          <a:bodyPr/>
          <a:lstStyle/>
          <a:p>
            <a:r>
              <a:rPr lang="en-US"/>
              <a:t>All Rights Reserved : Author @ Rajendra Phani</a:t>
            </a:r>
          </a:p>
        </p:txBody>
      </p:sp>
      <p:sp>
        <p:nvSpPr>
          <p:cNvPr id="5" name="Slide Number Placeholder 4">
            <a:extLst>
              <a:ext uri="{FF2B5EF4-FFF2-40B4-BE49-F238E27FC236}">
                <a16:creationId xmlns:a16="http://schemas.microsoft.com/office/drawing/2014/main" id="{AEDB5158-2717-6278-FD3E-0FE8376B3788}"/>
              </a:ext>
            </a:extLst>
          </p:cNvPr>
          <p:cNvSpPr>
            <a:spLocks noGrp="1"/>
          </p:cNvSpPr>
          <p:nvPr>
            <p:ph type="sldNum" sz="quarter" idx="12"/>
          </p:nvPr>
        </p:nvSpPr>
        <p:spPr/>
        <p:txBody>
          <a:bodyPr/>
          <a:lstStyle/>
          <a:p>
            <a:fld id="{907420D2-4109-9D49-8EF9-D87C3079BF79}" type="slidenum">
              <a:rPr lang="en-US" smtClean="0"/>
              <a:t>2</a:t>
            </a:fld>
            <a:endParaRPr lang="en-US"/>
          </a:p>
        </p:txBody>
      </p:sp>
    </p:spTree>
    <p:extLst>
      <p:ext uri="{BB962C8B-B14F-4D97-AF65-F5344CB8AC3E}">
        <p14:creationId xmlns:p14="http://schemas.microsoft.com/office/powerpoint/2010/main" val="3759070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378887-EB5C-3314-9BF5-92358D5B073E}"/>
              </a:ext>
            </a:extLst>
          </p:cNvPr>
          <p:cNvSpPr>
            <a:spLocks noGrp="1"/>
          </p:cNvSpPr>
          <p:nvPr>
            <p:ph idx="1"/>
          </p:nvPr>
        </p:nvSpPr>
        <p:spPr>
          <a:xfrm>
            <a:off x="1251678" y="421104"/>
            <a:ext cx="10178322" cy="6268454"/>
          </a:xfrm>
        </p:spPr>
        <p:txBody>
          <a:bodyPr>
            <a:normAutofit/>
          </a:bodyPr>
          <a:lstStyle/>
          <a:p>
            <a:pPr marL="0" indent="0">
              <a:buNone/>
            </a:pPr>
            <a:r>
              <a:rPr lang="en-US" b="1" dirty="0"/>
              <a:t>Rectified Linear Unit (</a:t>
            </a:r>
            <a:r>
              <a:rPr lang="en-US" b="1" dirty="0" err="1"/>
              <a:t>ReLU</a:t>
            </a:r>
            <a:r>
              <a:rPr lang="en-US" b="1" dirty="0"/>
              <a:t>) </a:t>
            </a:r>
            <a:r>
              <a:rPr lang="en-US" dirty="0"/>
              <a:t>is a widely used activation function in neural networks, especially in deep learning. It is favored for its simplicity and efficiency, becoming the default choice in many neural network architectures. </a:t>
            </a:r>
            <a:r>
              <a:rPr lang="en-US" dirty="0" err="1"/>
              <a:t>ReLU</a:t>
            </a:r>
            <a:r>
              <a:rPr lang="en-US" dirty="0"/>
              <a:t> is a piecewise linear function that outputs the input value directly when it is positive, and outputs zero otherwise.</a:t>
            </a:r>
          </a:p>
          <a:p>
            <a:pPr marL="0" indent="0">
              <a:buNone/>
            </a:pPr>
            <a:r>
              <a:rPr lang="en-US" dirty="0"/>
              <a:t>In simpler terms, </a:t>
            </a:r>
            <a:r>
              <a:rPr lang="en-US" dirty="0" err="1"/>
              <a:t>ReLU</a:t>
            </a:r>
            <a:r>
              <a:rPr lang="en-US" dirty="0"/>
              <a:t> allows positive inputs to pass through without change, while converting all negative inputs to zero. This characteristic helps neural networks avoid issues like the vanishing gradient problem, enabling them to learn complex patterns more effectively.</a:t>
            </a:r>
          </a:p>
          <a:p>
            <a:pPr marL="0" indent="0">
              <a:buNone/>
            </a:pPr>
            <a:r>
              <a:rPr lang="en-US" dirty="0"/>
              <a:t>Mathematically, the </a:t>
            </a:r>
            <a:r>
              <a:rPr lang="en-US" dirty="0" err="1"/>
              <a:t>ReLU</a:t>
            </a:r>
            <a:r>
              <a:rPr lang="en-US" dirty="0"/>
              <a:t> function is defined as:</a:t>
            </a:r>
          </a:p>
          <a:p>
            <a:pPr marL="0" indent="0">
              <a:buNone/>
            </a:pPr>
            <a:endParaRPr lang="en-US" dirty="0"/>
          </a:p>
          <a:p>
            <a:pPr marL="0" indent="0">
              <a:buNone/>
            </a:pPr>
            <a:r>
              <a:rPr lang="en-US" dirty="0"/>
              <a:t>Where:</a:t>
            </a:r>
          </a:p>
          <a:p>
            <a:pPr marL="0" indent="0">
              <a:buNone/>
            </a:pPr>
            <a:r>
              <a:rPr lang="en-US" dirty="0"/>
              <a:t>	•	 is the input to the neuron.</a:t>
            </a:r>
          </a:p>
          <a:p>
            <a:pPr marL="0" indent="0">
              <a:buNone/>
            </a:pPr>
            <a:r>
              <a:rPr lang="en-US" dirty="0"/>
              <a:t>	•	If , the function returns .</a:t>
            </a:r>
          </a:p>
          <a:p>
            <a:pPr marL="0" indent="0">
              <a:buNone/>
            </a:pPr>
            <a:r>
              <a:rPr lang="en-US" dirty="0"/>
              <a:t>	•	If , the function returns .</a:t>
            </a:r>
          </a:p>
          <a:p>
            <a:pPr marL="0" indent="0">
              <a:buNone/>
            </a:pPr>
            <a:endParaRPr lang="en-US" dirty="0"/>
          </a:p>
        </p:txBody>
      </p:sp>
      <p:pic>
        <p:nvPicPr>
          <p:cNvPr id="6" name="Picture 5" descr="A black background with white text&#10;&#10;AI-generated content may be incorrect.">
            <a:extLst>
              <a:ext uri="{FF2B5EF4-FFF2-40B4-BE49-F238E27FC236}">
                <a16:creationId xmlns:a16="http://schemas.microsoft.com/office/drawing/2014/main" id="{374F4781-B146-734C-DFA8-CB09587D3D1B}"/>
              </a:ext>
            </a:extLst>
          </p:cNvPr>
          <p:cNvPicPr>
            <a:picLocks noChangeAspect="1"/>
          </p:cNvPicPr>
          <p:nvPr/>
        </p:nvPicPr>
        <p:blipFill>
          <a:blip r:embed="rId2"/>
          <a:stretch>
            <a:fillRect/>
          </a:stretch>
        </p:blipFill>
        <p:spPr>
          <a:xfrm>
            <a:off x="3415966" y="5456322"/>
            <a:ext cx="3314700" cy="1028700"/>
          </a:xfrm>
          <a:prstGeom prst="rect">
            <a:avLst/>
          </a:prstGeom>
        </p:spPr>
      </p:pic>
      <p:sp>
        <p:nvSpPr>
          <p:cNvPr id="2" name="Footer Placeholder 1">
            <a:extLst>
              <a:ext uri="{FF2B5EF4-FFF2-40B4-BE49-F238E27FC236}">
                <a16:creationId xmlns:a16="http://schemas.microsoft.com/office/drawing/2014/main" id="{28F5D394-7C88-03A0-0C77-1E15B6CD1F0C}"/>
              </a:ext>
            </a:extLst>
          </p:cNvPr>
          <p:cNvSpPr>
            <a:spLocks noGrp="1"/>
          </p:cNvSpPr>
          <p:nvPr>
            <p:ph type="ftr" sz="quarter" idx="11"/>
          </p:nvPr>
        </p:nvSpPr>
        <p:spPr/>
        <p:txBody>
          <a:bodyPr/>
          <a:lstStyle/>
          <a:p>
            <a:r>
              <a:rPr lang="en-US"/>
              <a:t>All Rights Reserved : Author @ Rajendra Phani</a:t>
            </a:r>
          </a:p>
        </p:txBody>
      </p:sp>
      <p:sp>
        <p:nvSpPr>
          <p:cNvPr id="4" name="Slide Number Placeholder 3">
            <a:extLst>
              <a:ext uri="{FF2B5EF4-FFF2-40B4-BE49-F238E27FC236}">
                <a16:creationId xmlns:a16="http://schemas.microsoft.com/office/drawing/2014/main" id="{11A6C049-CC29-E4A2-1EF1-F84F5FB40E3F}"/>
              </a:ext>
            </a:extLst>
          </p:cNvPr>
          <p:cNvSpPr>
            <a:spLocks noGrp="1"/>
          </p:cNvSpPr>
          <p:nvPr>
            <p:ph type="sldNum" sz="quarter" idx="12"/>
          </p:nvPr>
        </p:nvSpPr>
        <p:spPr/>
        <p:txBody>
          <a:bodyPr/>
          <a:lstStyle/>
          <a:p>
            <a:fld id="{907420D2-4109-9D49-8EF9-D87C3079BF79}" type="slidenum">
              <a:rPr lang="en-US" smtClean="0"/>
              <a:t>3</a:t>
            </a:fld>
            <a:endParaRPr lang="en-US"/>
          </a:p>
        </p:txBody>
      </p:sp>
    </p:spTree>
    <p:extLst>
      <p:ext uri="{BB962C8B-B14F-4D97-AF65-F5344CB8AC3E}">
        <p14:creationId xmlns:p14="http://schemas.microsoft.com/office/powerpoint/2010/main" val="826145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a function&#10;&#10;AI-generated content may be incorrect.">
            <a:extLst>
              <a:ext uri="{FF2B5EF4-FFF2-40B4-BE49-F238E27FC236}">
                <a16:creationId xmlns:a16="http://schemas.microsoft.com/office/drawing/2014/main" id="{6FFEBCE7-006B-EC8F-B77F-91C41926AB2E}"/>
              </a:ext>
            </a:extLst>
          </p:cNvPr>
          <p:cNvPicPr>
            <a:picLocks noGrp="1" noChangeAspect="1"/>
          </p:cNvPicPr>
          <p:nvPr>
            <p:ph idx="1"/>
          </p:nvPr>
        </p:nvPicPr>
        <p:blipFill>
          <a:blip r:embed="rId2"/>
          <a:stretch>
            <a:fillRect/>
          </a:stretch>
        </p:blipFill>
        <p:spPr>
          <a:xfrm>
            <a:off x="1631092" y="946943"/>
            <a:ext cx="9069859" cy="5305575"/>
          </a:xfrm>
        </p:spPr>
      </p:pic>
      <p:sp>
        <p:nvSpPr>
          <p:cNvPr id="2" name="Footer Placeholder 1">
            <a:extLst>
              <a:ext uri="{FF2B5EF4-FFF2-40B4-BE49-F238E27FC236}">
                <a16:creationId xmlns:a16="http://schemas.microsoft.com/office/drawing/2014/main" id="{7242BC82-79FB-A9E6-49F7-72D432D6C9B3}"/>
              </a:ext>
            </a:extLst>
          </p:cNvPr>
          <p:cNvSpPr>
            <a:spLocks noGrp="1"/>
          </p:cNvSpPr>
          <p:nvPr>
            <p:ph type="ftr" sz="quarter" idx="11"/>
          </p:nvPr>
        </p:nvSpPr>
        <p:spPr/>
        <p:txBody>
          <a:bodyPr/>
          <a:lstStyle/>
          <a:p>
            <a:r>
              <a:rPr lang="en-US"/>
              <a:t>All Rights Reserved : Author @ Rajendra Phani</a:t>
            </a:r>
          </a:p>
        </p:txBody>
      </p:sp>
      <p:sp>
        <p:nvSpPr>
          <p:cNvPr id="3" name="Slide Number Placeholder 2">
            <a:extLst>
              <a:ext uri="{FF2B5EF4-FFF2-40B4-BE49-F238E27FC236}">
                <a16:creationId xmlns:a16="http://schemas.microsoft.com/office/drawing/2014/main" id="{2C15BC77-530B-3B03-50DF-C5C535120F38}"/>
              </a:ext>
            </a:extLst>
          </p:cNvPr>
          <p:cNvSpPr>
            <a:spLocks noGrp="1"/>
          </p:cNvSpPr>
          <p:nvPr>
            <p:ph type="sldNum" sz="quarter" idx="12"/>
          </p:nvPr>
        </p:nvSpPr>
        <p:spPr/>
        <p:txBody>
          <a:bodyPr/>
          <a:lstStyle/>
          <a:p>
            <a:fld id="{907420D2-4109-9D49-8EF9-D87C3079BF79}" type="slidenum">
              <a:rPr lang="en-US" smtClean="0"/>
              <a:t>4</a:t>
            </a:fld>
            <a:endParaRPr lang="en-US"/>
          </a:p>
        </p:txBody>
      </p:sp>
    </p:spTree>
    <p:extLst>
      <p:ext uri="{BB962C8B-B14F-4D97-AF65-F5344CB8AC3E}">
        <p14:creationId xmlns:p14="http://schemas.microsoft.com/office/powerpoint/2010/main" val="1938923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B732E-D746-C9AB-2514-7B9F738CB3CB}"/>
              </a:ext>
            </a:extLst>
          </p:cNvPr>
          <p:cNvSpPr>
            <a:spLocks noGrp="1"/>
          </p:cNvSpPr>
          <p:nvPr>
            <p:ph type="title"/>
          </p:nvPr>
        </p:nvSpPr>
        <p:spPr>
          <a:xfrm>
            <a:off x="838200" y="365126"/>
            <a:ext cx="10515600" cy="934286"/>
          </a:xfrm>
        </p:spPr>
        <p:txBody>
          <a:bodyPr>
            <a:normAutofit fontScale="90000"/>
          </a:bodyPr>
          <a:lstStyle/>
          <a:p>
            <a:r>
              <a:rPr lang="en-IN" b="1" dirty="0"/>
              <a:t>Python Code Example</a:t>
            </a:r>
            <a:br>
              <a:rPr lang="en-IN" b="1" dirty="0"/>
            </a:br>
            <a:endParaRPr lang="en-US" dirty="0"/>
          </a:p>
        </p:txBody>
      </p:sp>
      <p:sp>
        <p:nvSpPr>
          <p:cNvPr id="3" name="Content Placeholder 2">
            <a:extLst>
              <a:ext uri="{FF2B5EF4-FFF2-40B4-BE49-F238E27FC236}">
                <a16:creationId xmlns:a16="http://schemas.microsoft.com/office/drawing/2014/main" id="{535DD625-64F9-F52C-674F-8747AC85C441}"/>
              </a:ext>
            </a:extLst>
          </p:cNvPr>
          <p:cNvSpPr>
            <a:spLocks noGrp="1"/>
          </p:cNvSpPr>
          <p:nvPr>
            <p:ph idx="1"/>
          </p:nvPr>
        </p:nvSpPr>
        <p:spPr>
          <a:xfrm>
            <a:off x="838200" y="1058779"/>
            <a:ext cx="10515600" cy="5895474"/>
          </a:xfrm>
        </p:spPr>
        <p:txBody>
          <a:bodyPr>
            <a:normAutofit fontScale="32500" lnSpcReduction="20000"/>
          </a:bodyPr>
          <a:lstStyle/>
          <a:p>
            <a:pPr marL="0" indent="0">
              <a:buNone/>
            </a:pPr>
            <a:r>
              <a:rPr lang="en-US" sz="3000" dirty="0"/>
              <a:t>import </a:t>
            </a:r>
            <a:r>
              <a:rPr lang="en-US" sz="3000" dirty="0" err="1"/>
              <a:t>numpy</a:t>
            </a:r>
            <a:r>
              <a:rPr lang="en-US" sz="3000" dirty="0"/>
              <a:t> as np</a:t>
            </a:r>
          </a:p>
          <a:p>
            <a:pPr marL="0" indent="0">
              <a:buNone/>
            </a:pPr>
            <a:endParaRPr lang="en-US" sz="3000" dirty="0"/>
          </a:p>
          <a:p>
            <a:pPr marL="0" indent="0">
              <a:buNone/>
            </a:pPr>
            <a:r>
              <a:rPr lang="en-US" sz="3000" dirty="0"/>
              <a:t>def </a:t>
            </a:r>
            <a:r>
              <a:rPr lang="en-US" sz="3000" dirty="0" err="1"/>
              <a:t>relu</a:t>
            </a:r>
            <a:r>
              <a:rPr lang="en-US" sz="3000" dirty="0"/>
              <a:t>(x):</a:t>
            </a:r>
          </a:p>
          <a:p>
            <a:pPr marL="0" indent="0">
              <a:buNone/>
            </a:pPr>
            <a:r>
              <a:rPr lang="en-US" sz="3000" dirty="0"/>
              <a:t>    """</a:t>
            </a:r>
            <a:r>
              <a:rPr lang="en-US" sz="3000" dirty="0" err="1"/>
              <a:t>ReLU</a:t>
            </a:r>
            <a:r>
              <a:rPr lang="en-US" sz="3000" dirty="0"/>
              <a:t> activation: f(x) = max(0, x)</a:t>
            </a:r>
          </a:p>
          <a:p>
            <a:pPr marL="0" indent="0">
              <a:buNone/>
            </a:pPr>
            <a:r>
              <a:rPr lang="en-US" sz="3000" dirty="0"/>
              <a:t>    </a:t>
            </a:r>
            <a:r>
              <a:rPr lang="en-US" sz="3000" dirty="0" err="1"/>
              <a:t>Args</a:t>
            </a:r>
            <a:r>
              <a:rPr lang="en-US" sz="3000" dirty="0"/>
              <a:t>:</a:t>
            </a:r>
          </a:p>
          <a:p>
            <a:pPr marL="0" indent="0">
              <a:buNone/>
            </a:pPr>
            <a:r>
              <a:rPr lang="en-US" sz="3000" dirty="0"/>
              <a:t>        x (</a:t>
            </a:r>
            <a:r>
              <a:rPr lang="en-US" sz="3000" dirty="0" err="1"/>
              <a:t>np.ndarray</a:t>
            </a:r>
            <a:r>
              <a:rPr lang="en-US" sz="3000" dirty="0"/>
              <a:t>): Input data</a:t>
            </a:r>
          </a:p>
          <a:p>
            <a:pPr marL="0" indent="0">
              <a:buNone/>
            </a:pPr>
            <a:r>
              <a:rPr lang="en-US" sz="3000" dirty="0"/>
              <a:t>    Returns:</a:t>
            </a:r>
          </a:p>
          <a:p>
            <a:pPr marL="0" indent="0">
              <a:buNone/>
            </a:pPr>
            <a:r>
              <a:rPr lang="en-US" sz="3000" dirty="0"/>
              <a:t>        </a:t>
            </a:r>
            <a:r>
              <a:rPr lang="en-US" sz="3000" dirty="0" err="1"/>
              <a:t>np.ndarray</a:t>
            </a:r>
            <a:r>
              <a:rPr lang="en-US" sz="3000" dirty="0"/>
              <a:t>: </a:t>
            </a:r>
            <a:r>
              <a:rPr lang="en-US" sz="3000" dirty="0" err="1"/>
              <a:t>ReLU</a:t>
            </a:r>
            <a:r>
              <a:rPr lang="en-US" sz="3000" dirty="0"/>
              <a:t>-transformed values</a:t>
            </a:r>
          </a:p>
          <a:p>
            <a:pPr marL="0" indent="0">
              <a:buNone/>
            </a:pPr>
            <a:r>
              <a:rPr lang="en-US" sz="3000" dirty="0"/>
              <a:t>    """</a:t>
            </a:r>
          </a:p>
          <a:p>
            <a:pPr marL="0" indent="0">
              <a:buNone/>
            </a:pPr>
            <a:r>
              <a:rPr lang="en-US" sz="3000" dirty="0"/>
              <a:t>    return </a:t>
            </a:r>
            <a:r>
              <a:rPr lang="en-US" sz="3000" dirty="0" err="1"/>
              <a:t>np.maximum</a:t>
            </a:r>
            <a:r>
              <a:rPr lang="en-US" sz="3000" dirty="0"/>
              <a:t>(0, x)</a:t>
            </a:r>
          </a:p>
          <a:p>
            <a:pPr marL="0" indent="0">
              <a:buNone/>
            </a:pPr>
            <a:endParaRPr lang="en-US" sz="3000" dirty="0"/>
          </a:p>
          <a:p>
            <a:pPr marL="0" indent="0">
              <a:buNone/>
            </a:pPr>
            <a:r>
              <a:rPr lang="en-US" sz="3000" dirty="0"/>
              <a:t># Example using sine wave data </a:t>
            </a:r>
          </a:p>
          <a:p>
            <a:pPr marL="0" indent="0">
              <a:buNone/>
            </a:pPr>
            <a:r>
              <a:rPr lang="en-US" sz="3000" dirty="0"/>
              <a:t>time = </a:t>
            </a:r>
            <a:r>
              <a:rPr lang="en-US" sz="3000" dirty="0" err="1"/>
              <a:t>np.linspace</a:t>
            </a:r>
            <a:r>
              <a:rPr lang="en-US" sz="3000" dirty="0"/>
              <a:t>(0, 2 * </a:t>
            </a:r>
            <a:r>
              <a:rPr lang="en-US" sz="3000" dirty="0" err="1"/>
              <a:t>np.pi</a:t>
            </a:r>
            <a:r>
              <a:rPr lang="en-US" sz="3000" dirty="0"/>
              <a:t>, 100)</a:t>
            </a:r>
          </a:p>
          <a:p>
            <a:pPr marL="0" indent="0">
              <a:buNone/>
            </a:pPr>
            <a:r>
              <a:rPr lang="en-US" sz="3000" dirty="0" err="1"/>
              <a:t>sine_waves</a:t>
            </a:r>
            <a:r>
              <a:rPr lang="en-US" sz="3000" dirty="0"/>
              <a:t> = </a:t>
            </a:r>
            <a:r>
              <a:rPr lang="en-US" sz="3000" dirty="0" err="1"/>
              <a:t>np.sin</a:t>
            </a:r>
            <a:r>
              <a:rPr lang="en-US" sz="3000" dirty="0"/>
              <a:t>(time)  # Your basic sine wave</a:t>
            </a:r>
          </a:p>
          <a:p>
            <a:pPr marL="0" indent="0">
              <a:buNone/>
            </a:pPr>
            <a:endParaRPr lang="en-US" sz="3000" dirty="0"/>
          </a:p>
          <a:p>
            <a:pPr marL="0" indent="0">
              <a:buNone/>
            </a:pPr>
            <a:r>
              <a:rPr lang="en-US" sz="3000" dirty="0"/>
              <a:t># Apply </a:t>
            </a:r>
            <a:r>
              <a:rPr lang="en-US" sz="3000" dirty="0" err="1"/>
              <a:t>ReLU</a:t>
            </a:r>
            <a:r>
              <a:rPr lang="en-US" sz="3000" dirty="0"/>
              <a:t> to the sine wave</a:t>
            </a:r>
          </a:p>
          <a:p>
            <a:pPr marL="0" indent="0">
              <a:buNone/>
            </a:pPr>
            <a:r>
              <a:rPr lang="en-US" sz="3000" dirty="0" err="1"/>
              <a:t>relu_sine</a:t>
            </a:r>
            <a:r>
              <a:rPr lang="en-US" sz="3000" dirty="0"/>
              <a:t> = </a:t>
            </a:r>
            <a:r>
              <a:rPr lang="en-US" sz="3000" dirty="0" err="1"/>
              <a:t>relu</a:t>
            </a:r>
            <a:r>
              <a:rPr lang="en-US" sz="3000" dirty="0"/>
              <a:t>(</a:t>
            </a:r>
            <a:r>
              <a:rPr lang="en-US" sz="3000" dirty="0" err="1"/>
              <a:t>sine_waves</a:t>
            </a:r>
            <a:r>
              <a:rPr lang="en-US" sz="3000" dirty="0"/>
              <a:t>)</a:t>
            </a:r>
          </a:p>
          <a:p>
            <a:pPr marL="0" indent="0">
              <a:buNone/>
            </a:pPr>
            <a:endParaRPr lang="en-US" sz="3000" dirty="0"/>
          </a:p>
          <a:p>
            <a:pPr marL="0" indent="0">
              <a:buNone/>
            </a:pPr>
            <a:r>
              <a:rPr lang="en-US" sz="3000" dirty="0"/>
              <a:t>print(</a:t>
            </a:r>
            <a:r>
              <a:rPr lang="en-US" sz="3000" dirty="0" err="1"/>
              <a:t>f"Original</a:t>
            </a:r>
            <a:r>
              <a:rPr lang="en-US" sz="3000" dirty="0"/>
              <a:t> sine wave min: {</a:t>
            </a:r>
            <a:r>
              <a:rPr lang="en-US" sz="3000" dirty="0" err="1"/>
              <a:t>np.min</a:t>
            </a:r>
            <a:r>
              <a:rPr lang="en-US" sz="3000" dirty="0"/>
              <a:t>(</a:t>
            </a:r>
            <a:r>
              <a:rPr lang="en-US" sz="3000" dirty="0" err="1"/>
              <a:t>sine_waves</a:t>
            </a:r>
            <a:r>
              <a:rPr lang="en-US" sz="3000" dirty="0"/>
              <a:t>):.4f}, max: {</a:t>
            </a:r>
            <a:r>
              <a:rPr lang="en-US" sz="3000" dirty="0" err="1"/>
              <a:t>np.max</a:t>
            </a:r>
            <a:r>
              <a:rPr lang="en-US" sz="3000" dirty="0"/>
              <a:t>(</a:t>
            </a:r>
            <a:r>
              <a:rPr lang="en-US" sz="3000" dirty="0" err="1"/>
              <a:t>sine_waves</a:t>
            </a:r>
            <a:r>
              <a:rPr lang="en-US" sz="3000" dirty="0"/>
              <a:t>):.4f}")</a:t>
            </a:r>
          </a:p>
          <a:p>
            <a:pPr marL="0" indent="0">
              <a:buNone/>
            </a:pPr>
            <a:r>
              <a:rPr lang="en-US" sz="3000" dirty="0"/>
              <a:t>print(</a:t>
            </a:r>
            <a:r>
              <a:rPr lang="en-US" sz="3000" dirty="0" err="1"/>
              <a:t>f"ReLU</a:t>
            </a:r>
            <a:r>
              <a:rPr lang="en-US" sz="3000" dirty="0"/>
              <a:t>-sine wave min: {</a:t>
            </a:r>
            <a:r>
              <a:rPr lang="en-US" sz="3000" dirty="0" err="1"/>
              <a:t>np.min</a:t>
            </a:r>
            <a:r>
              <a:rPr lang="en-US" sz="3000" dirty="0"/>
              <a:t>(</a:t>
            </a:r>
            <a:r>
              <a:rPr lang="en-US" sz="3000" dirty="0" err="1"/>
              <a:t>relu_sine</a:t>
            </a:r>
            <a:r>
              <a:rPr lang="en-US" sz="3000" dirty="0"/>
              <a:t>):.4f}, max: {</a:t>
            </a:r>
            <a:r>
              <a:rPr lang="en-US" sz="3000" dirty="0" err="1"/>
              <a:t>np.max</a:t>
            </a:r>
            <a:r>
              <a:rPr lang="en-US" sz="3000" dirty="0"/>
              <a:t>(</a:t>
            </a:r>
            <a:r>
              <a:rPr lang="en-US" sz="3000" dirty="0" err="1"/>
              <a:t>relu_sine</a:t>
            </a:r>
            <a:r>
              <a:rPr lang="en-US" sz="3000" dirty="0"/>
              <a:t>):.4f}")</a:t>
            </a:r>
          </a:p>
          <a:p>
            <a:pPr marL="0" indent="0">
              <a:buNone/>
            </a:pPr>
            <a:endParaRPr lang="en-US" sz="3000" dirty="0"/>
          </a:p>
          <a:p>
            <a:pPr marL="0" indent="0">
              <a:buNone/>
            </a:pPr>
            <a:r>
              <a:rPr lang="en-US" sz="3000" dirty="0"/>
              <a:t># Output:</a:t>
            </a:r>
          </a:p>
          <a:p>
            <a:pPr marL="0" indent="0">
              <a:buNone/>
            </a:pPr>
            <a:r>
              <a:rPr lang="en-US" sz="3000" dirty="0"/>
              <a:t># Original sine wave min: -0.9996, max: 0.9996</a:t>
            </a:r>
          </a:p>
          <a:p>
            <a:pPr marL="0" indent="0">
              <a:buNone/>
            </a:pPr>
            <a:r>
              <a:rPr lang="en-US" sz="3000" dirty="0"/>
              <a:t># </a:t>
            </a:r>
            <a:r>
              <a:rPr lang="en-US" sz="3000" dirty="0" err="1"/>
              <a:t>ReLU</a:t>
            </a:r>
            <a:r>
              <a:rPr lang="en-US" sz="3000" dirty="0"/>
              <a:t>-sine wave min: 0.0000, max: 0.9996</a:t>
            </a:r>
          </a:p>
          <a:p>
            <a:pPr marL="0" indent="0">
              <a:buNone/>
            </a:pPr>
            <a:endParaRPr lang="en-US" dirty="0"/>
          </a:p>
        </p:txBody>
      </p:sp>
      <p:sp>
        <p:nvSpPr>
          <p:cNvPr id="4" name="Footer Placeholder 3">
            <a:extLst>
              <a:ext uri="{FF2B5EF4-FFF2-40B4-BE49-F238E27FC236}">
                <a16:creationId xmlns:a16="http://schemas.microsoft.com/office/drawing/2014/main" id="{62C0AB94-8443-16D4-DC80-58C4F5351CD6}"/>
              </a:ext>
            </a:extLst>
          </p:cNvPr>
          <p:cNvSpPr>
            <a:spLocks noGrp="1"/>
          </p:cNvSpPr>
          <p:nvPr>
            <p:ph type="ftr" sz="quarter" idx="11"/>
          </p:nvPr>
        </p:nvSpPr>
        <p:spPr/>
        <p:txBody>
          <a:bodyPr/>
          <a:lstStyle/>
          <a:p>
            <a:r>
              <a:rPr lang="en-US"/>
              <a:t>All Rights Reserved : Author @ Rajendra Phani</a:t>
            </a:r>
          </a:p>
        </p:txBody>
      </p:sp>
      <p:sp>
        <p:nvSpPr>
          <p:cNvPr id="5" name="Slide Number Placeholder 4">
            <a:extLst>
              <a:ext uri="{FF2B5EF4-FFF2-40B4-BE49-F238E27FC236}">
                <a16:creationId xmlns:a16="http://schemas.microsoft.com/office/drawing/2014/main" id="{93AEDE90-A3D5-C7A2-F689-900FA1D97E60}"/>
              </a:ext>
            </a:extLst>
          </p:cNvPr>
          <p:cNvSpPr>
            <a:spLocks noGrp="1"/>
          </p:cNvSpPr>
          <p:nvPr>
            <p:ph type="sldNum" sz="quarter" idx="12"/>
          </p:nvPr>
        </p:nvSpPr>
        <p:spPr/>
        <p:txBody>
          <a:bodyPr/>
          <a:lstStyle/>
          <a:p>
            <a:fld id="{907420D2-4109-9D49-8EF9-D87C3079BF79}" type="slidenum">
              <a:rPr lang="en-US" smtClean="0"/>
              <a:t>5</a:t>
            </a:fld>
            <a:endParaRPr lang="en-US"/>
          </a:p>
        </p:txBody>
      </p:sp>
    </p:spTree>
    <p:extLst>
      <p:ext uri="{BB962C8B-B14F-4D97-AF65-F5344CB8AC3E}">
        <p14:creationId xmlns:p14="http://schemas.microsoft.com/office/powerpoint/2010/main" val="2545694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DAC2A-6FDD-53F8-FB2C-4CCE57C0C8E6}"/>
              </a:ext>
            </a:extLst>
          </p:cNvPr>
          <p:cNvSpPr>
            <a:spLocks noGrp="1"/>
          </p:cNvSpPr>
          <p:nvPr>
            <p:ph type="title"/>
          </p:nvPr>
        </p:nvSpPr>
        <p:spPr>
          <a:xfrm>
            <a:off x="838200" y="365125"/>
            <a:ext cx="10515600" cy="958349"/>
          </a:xfrm>
        </p:spPr>
        <p:txBody>
          <a:bodyPr>
            <a:normAutofit fontScale="90000"/>
          </a:bodyPr>
          <a:lstStyle/>
          <a:p>
            <a:r>
              <a:rPr lang="en-IN" b="1" dirty="0"/>
              <a:t>2. Sigmoid Activation Function</a:t>
            </a:r>
            <a:br>
              <a:rPr lang="en-IN" b="1" dirty="0"/>
            </a:br>
            <a:endParaRPr lang="en-US" dirty="0"/>
          </a:p>
        </p:txBody>
      </p:sp>
      <p:sp>
        <p:nvSpPr>
          <p:cNvPr id="3" name="Content Placeholder 2">
            <a:extLst>
              <a:ext uri="{FF2B5EF4-FFF2-40B4-BE49-F238E27FC236}">
                <a16:creationId xmlns:a16="http://schemas.microsoft.com/office/drawing/2014/main" id="{AF8E3F11-ACF8-54E1-6010-A7EB7A71D9AE}"/>
              </a:ext>
            </a:extLst>
          </p:cNvPr>
          <p:cNvSpPr>
            <a:spLocks noGrp="1"/>
          </p:cNvSpPr>
          <p:nvPr>
            <p:ph idx="1"/>
          </p:nvPr>
        </p:nvSpPr>
        <p:spPr>
          <a:xfrm>
            <a:off x="838200" y="1323474"/>
            <a:ext cx="10515600" cy="4853489"/>
          </a:xfrm>
        </p:spPr>
        <p:txBody>
          <a:bodyPr/>
          <a:lstStyle/>
          <a:p>
            <a:r>
              <a:rPr lang="en-IN" b="1" dirty="0"/>
              <a:t>What it is</a:t>
            </a:r>
          </a:p>
          <a:p>
            <a:r>
              <a:rPr lang="en-IN" dirty="0"/>
              <a:t>f(x) = 1 / (1 + e^{-x})</a:t>
            </a:r>
          </a:p>
          <a:p>
            <a:r>
              <a:rPr lang="en-IN" dirty="0"/>
              <a:t>Formula : f(x) = 1 / (1 + exp(-x)) </a:t>
            </a:r>
            <a:br>
              <a:rPr lang="en-IN" dirty="0"/>
            </a:br>
            <a:r>
              <a:rPr lang="en-IN" i="1" dirty="0"/>
              <a:t>Outputs values between 0 and 1</a:t>
            </a:r>
            <a:endParaRPr lang="en-IN" dirty="0"/>
          </a:p>
          <a:p>
            <a:pPr marL="0" indent="0">
              <a:buNone/>
            </a:pPr>
            <a:r>
              <a:rPr lang="en-IN" b="1" dirty="0"/>
              <a:t>Why we use it</a:t>
            </a:r>
          </a:p>
          <a:p>
            <a:r>
              <a:rPr lang="en-IN" b="1" dirty="0"/>
              <a:t>Binary classification</a:t>
            </a:r>
            <a:r>
              <a:rPr lang="en-IN" dirty="0"/>
              <a:t>: Perfect for output layers when you need probabilities (e.g., "is this wave peak?")</a:t>
            </a:r>
          </a:p>
          <a:p>
            <a:r>
              <a:rPr lang="en-IN" b="1" dirty="0"/>
              <a:t>Smooth gradient</a:t>
            </a:r>
            <a:r>
              <a:rPr lang="en-IN" dirty="0"/>
              <a:t>: Enables efficient backpropagation</a:t>
            </a:r>
          </a:p>
          <a:p>
            <a:r>
              <a:rPr lang="en-IN" b="1" dirty="0"/>
              <a:t>Converges fast</a:t>
            </a:r>
            <a:r>
              <a:rPr lang="en-IN" dirty="0"/>
              <a:t> in shallow networks</a:t>
            </a:r>
          </a:p>
          <a:p>
            <a:pPr marL="0" indent="0">
              <a:buNone/>
            </a:pPr>
            <a:endParaRPr lang="en-US" dirty="0"/>
          </a:p>
        </p:txBody>
      </p:sp>
      <p:sp>
        <p:nvSpPr>
          <p:cNvPr id="4" name="Footer Placeholder 3">
            <a:extLst>
              <a:ext uri="{FF2B5EF4-FFF2-40B4-BE49-F238E27FC236}">
                <a16:creationId xmlns:a16="http://schemas.microsoft.com/office/drawing/2014/main" id="{455F88CD-0130-B715-B258-F50626B4CF30}"/>
              </a:ext>
            </a:extLst>
          </p:cNvPr>
          <p:cNvSpPr>
            <a:spLocks noGrp="1"/>
          </p:cNvSpPr>
          <p:nvPr>
            <p:ph type="ftr" sz="quarter" idx="11"/>
          </p:nvPr>
        </p:nvSpPr>
        <p:spPr/>
        <p:txBody>
          <a:bodyPr/>
          <a:lstStyle/>
          <a:p>
            <a:r>
              <a:rPr lang="en-US"/>
              <a:t>All Rights Reserved : Author @ Rajendra Phani</a:t>
            </a:r>
          </a:p>
        </p:txBody>
      </p:sp>
      <p:sp>
        <p:nvSpPr>
          <p:cNvPr id="5" name="Slide Number Placeholder 4">
            <a:extLst>
              <a:ext uri="{FF2B5EF4-FFF2-40B4-BE49-F238E27FC236}">
                <a16:creationId xmlns:a16="http://schemas.microsoft.com/office/drawing/2014/main" id="{EB780887-E1D9-84DC-3367-84E6E3E377A6}"/>
              </a:ext>
            </a:extLst>
          </p:cNvPr>
          <p:cNvSpPr>
            <a:spLocks noGrp="1"/>
          </p:cNvSpPr>
          <p:nvPr>
            <p:ph type="sldNum" sz="quarter" idx="12"/>
          </p:nvPr>
        </p:nvSpPr>
        <p:spPr/>
        <p:txBody>
          <a:bodyPr/>
          <a:lstStyle/>
          <a:p>
            <a:fld id="{907420D2-4109-9D49-8EF9-D87C3079BF79}" type="slidenum">
              <a:rPr lang="en-US" smtClean="0"/>
              <a:t>6</a:t>
            </a:fld>
            <a:endParaRPr lang="en-US"/>
          </a:p>
        </p:txBody>
      </p:sp>
    </p:spTree>
    <p:extLst>
      <p:ext uri="{BB962C8B-B14F-4D97-AF65-F5344CB8AC3E}">
        <p14:creationId xmlns:p14="http://schemas.microsoft.com/office/powerpoint/2010/main" val="3886148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FCF393-5858-4459-1679-26CDA91AA41F}"/>
              </a:ext>
            </a:extLst>
          </p:cNvPr>
          <p:cNvSpPr>
            <a:spLocks noGrp="1"/>
          </p:cNvSpPr>
          <p:nvPr>
            <p:ph idx="1"/>
          </p:nvPr>
        </p:nvSpPr>
        <p:spPr>
          <a:xfrm>
            <a:off x="1251678" y="926433"/>
            <a:ext cx="10178322" cy="4953160"/>
          </a:xfrm>
        </p:spPr>
        <p:txBody>
          <a:bodyPr>
            <a:normAutofit fontScale="77500" lnSpcReduction="20000"/>
          </a:bodyPr>
          <a:lstStyle/>
          <a:p>
            <a:pPr marL="0" indent="0">
              <a:buNone/>
            </a:pPr>
            <a:r>
              <a:rPr lang="en-US" b="1" dirty="0"/>
              <a:t>The sigmoid function </a:t>
            </a:r>
            <a:r>
              <a:rPr lang="en-US" dirty="0"/>
              <a:t>is a mathematical function that transforms any real number into a value between 0 and 1, forming an “S”-shaped curve. It is often referred to as the logistic function and is widely used in neural networks as an activation function, especially for binary classification problems.</a:t>
            </a:r>
          </a:p>
          <a:p>
            <a:pPr marL="0" indent="0">
              <a:buNone/>
            </a:pPr>
            <a:r>
              <a:rPr lang="en-US" dirty="0"/>
              <a:t>Mathematically, the sigmoid function is defined as:</a:t>
            </a:r>
          </a:p>
          <a:p>
            <a:pPr marL="0" indent="0">
              <a:buNone/>
            </a:pPr>
            <a:r>
              <a:rPr lang="en-US" dirty="0"/>
              <a:t>			</a:t>
            </a:r>
          </a:p>
          <a:p>
            <a:pPr marL="0" indent="0">
              <a:buNone/>
            </a:pPr>
            <a:r>
              <a:rPr lang="en-US" dirty="0"/>
              <a:t>			</a:t>
            </a:r>
          </a:p>
          <a:p>
            <a:pPr marL="0" indent="0">
              <a:buNone/>
            </a:pPr>
            <a:endParaRPr lang="en-US" dirty="0"/>
          </a:p>
          <a:p>
            <a:pPr marL="0" indent="0">
              <a:buNone/>
            </a:pPr>
            <a:r>
              <a:rPr lang="en-US" dirty="0"/>
              <a:t>where  is the input, and  is Euler’s number . The function outputs values close to 0 for very negative inputs and values close to 1 for very positive inputs, smoothly transitioning through 0.5 when .</a:t>
            </a:r>
          </a:p>
          <a:p>
            <a:pPr marL="0" indent="0">
              <a:buNone/>
            </a:pPr>
            <a:r>
              <a:rPr lang="en-US" dirty="0"/>
              <a:t>This property makes the sigmoid function useful for converting outputs into probabilities, which is essential when modeling binary outcomes. In neural networks, it introduces non-linearity, enabling the model to capture complex patterns that linear functions cannot. Sigmoid activation functions are often applied in the output layer to represent the probability that an input belongs to a particular class.</a:t>
            </a:r>
          </a:p>
          <a:p>
            <a:pPr marL="0" indent="0">
              <a:buNone/>
            </a:pPr>
            <a:r>
              <a:rPr lang="en-US" dirty="0"/>
              <a:t>However, despite its usefulness, the sigmoid function can suffer from the vanishing gradient problem during training, where gradients become very small for extreme values, slowing down learning in deep networks.</a:t>
            </a:r>
          </a:p>
          <a:p>
            <a:pPr marL="0" indent="0">
              <a:buNone/>
            </a:pPr>
            <a:r>
              <a:rPr lang="en-US" dirty="0"/>
              <a:t>In summary, the sigmoid function serves as a probabilistic squashing function in neural networks with the benefits of non-linearity and probabilistic interpretation, though it has some training limitations compared to newer activation functions</a:t>
            </a:r>
          </a:p>
        </p:txBody>
      </p:sp>
      <p:pic>
        <p:nvPicPr>
          <p:cNvPr id="5" name="Picture 4" descr="A black background with white text&#10;&#10;AI-generated content may be incorrect.">
            <a:extLst>
              <a:ext uri="{FF2B5EF4-FFF2-40B4-BE49-F238E27FC236}">
                <a16:creationId xmlns:a16="http://schemas.microsoft.com/office/drawing/2014/main" id="{51993641-490B-76CD-6F61-2EB003A2362F}"/>
              </a:ext>
            </a:extLst>
          </p:cNvPr>
          <p:cNvPicPr>
            <a:picLocks noChangeAspect="1"/>
          </p:cNvPicPr>
          <p:nvPr/>
        </p:nvPicPr>
        <p:blipFill>
          <a:blip r:embed="rId2"/>
          <a:stretch>
            <a:fillRect/>
          </a:stretch>
        </p:blipFill>
        <p:spPr>
          <a:xfrm>
            <a:off x="4708692" y="2161674"/>
            <a:ext cx="1739900" cy="609600"/>
          </a:xfrm>
          <a:prstGeom prst="rect">
            <a:avLst/>
          </a:prstGeom>
        </p:spPr>
      </p:pic>
      <p:sp>
        <p:nvSpPr>
          <p:cNvPr id="2" name="Footer Placeholder 1">
            <a:extLst>
              <a:ext uri="{FF2B5EF4-FFF2-40B4-BE49-F238E27FC236}">
                <a16:creationId xmlns:a16="http://schemas.microsoft.com/office/drawing/2014/main" id="{BE279C98-4DEB-551F-74CF-96DDEC50F1DA}"/>
              </a:ext>
            </a:extLst>
          </p:cNvPr>
          <p:cNvSpPr>
            <a:spLocks noGrp="1"/>
          </p:cNvSpPr>
          <p:nvPr>
            <p:ph type="ftr" sz="quarter" idx="11"/>
          </p:nvPr>
        </p:nvSpPr>
        <p:spPr/>
        <p:txBody>
          <a:bodyPr/>
          <a:lstStyle/>
          <a:p>
            <a:r>
              <a:rPr lang="en-US"/>
              <a:t>All Rights Reserved : Author @ Rajendra Phani</a:t>
            </a:r>
          </a:p>
        </p:txBody>
      </p:sp>
      <p:sp>
        <p:nvSpPr>
          <p:cNvPr id="4" name="Slide Number Placeholder 3">
            <a:extLst>
              <a:ext uri="{FF2B5EF4-FFF2-40B4-BE49-F238E27FC236}">
                <a16:creationId xmlns:a16="http://schemas.microsoft.com/office/drawing/2014/main" id="{D28E161C-8E48-F281-9414-A6D087A75456}"/>
              </a:ext>
            </a:extLst>
          </p:cNvPr>
          <p:cNvSpPr>
            <a:spLocks noGrp="1"/>
          </p:cNvSpPr>
          <p:nvPr>
            <p:ph type="sldNum" sz="quarter" idx="12"/>
          </p:nvPr>
        </p:nvSpPr>
        <p:spPr/>
        <p:txBody>
          <a:bodyPr/>
          <a:lstStyle/>
          <a:p>
            <a:fld id="{907420D2-4109-9D49-8EF9-D87C3079BF79}" type="slidenum">
              <a:rPr lang="en-US" smtClean="0"/>
              <a:t>7</a:t>
            </a:fld>
            <a:endParaRPr lang="en-US"/>
          </a:p>
        </p:txBody>
      </p:sp>
    </p:spTree>
    <p:extLst>
      <p:ext uri="{BB962C8B-B14F-4D97-AF65-F5344CB8AC3E}">
        <p14:creationId xmlns:p14="http://schemas.microsoft.com/office/powerpoint/2010/main" val="3107626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04965F-EE6A-E4DC-F4AE-D8D6EF7F0847}"/>
              </a:ext>
            </a:extLst>
          </p:cNvPr>
          <p:cNvSpPr>
            <a:spLocks noGrp="1"/>
          </p:cNvSpPr>
          <p:nvPr>
            <p:ph idx="1"/>
          </p:nvPr>
        </p:nvSpPr>
        <p:spPr>
          <a:xfrm>
            <a:off x="838200" y="372979"/>
            <a:ext cx="10515600" cy="5803984"/>
          </a:xfrm>
        </p:spPr>
        <p:txBody>
          <a:bodyPr>
            <a:normAutofit fontScale="85000" lnSpcReduction="20000"/>
          </a:bodyPr>
          <a:lstStyle/>
          <a:p>
            <a:pPr marL="0" indent="0">
              <a:buNone/>
            </a:pPr>
            <a:r>
              <a:rPr lang="en-US" dirty="0"/>
              <a:t>def sigmoid(x):</a:t>
            </a:r>
          </a:p>
          <a:p>
            <a:pPr marL="0" indent="0">
              <a:buNone/>
            </a:pPr>
            <a:r>
              <a:rPr lang="en-US" dirty="0"/>
              <a:t>    """Sigmoid activation: f(x) = 1/(1+e^{-x})</a:t>
            </a:r>
          </a:p>
          <a:p>
            <a:pPr marL="0" indent="0">
              <a:buNone/>
            </a:pPr>
            <a:endParaRPr lang="en-US" dirty="0"/>
          </a:p>
          <a:p>
            <a:pPr marL="0" indent="0">
              <a:buNone/>
            </a:pPr>
            <a:r>
              <a:rPr lang="en-US" dirty="0"/>
              <a:t>       </a:t>
            </a:r>
            <a:r>
              <a:rPr lang="en-US" dirty="0" err="1"/>
              <a:t>Args</a:t>
            </a:r>
            <a:r>
              <a:rPr lang="en-US" dirty="0"/>
              <a:t>:</a:t>
            </a:r>
          </a:p>
          <a:p>
            <a:pPr marL="0" indent="0">
              <a:buNone/>
            </a:pPr>
            <a:r>
              <a:rPr lang="en-US" dirty="0"/>
              <a:t>            x (</a:t>
            </a:r>
            <a:r>
              <a:rPr lang="en-US" dirty="0" err="1"/>
              <a:t>np.ndarray</a:t>
            </a:r>
            <a:r>
              <a:rPr lang="en-US" dirty="0"/>
              <a:t>): Input data</a:t>
            </a:r>
          </a:p>
          <a:p>
            <a:pPr marL="0" indent="0">
              <a:buNone/>
            </a:pPr>
            <a:r>
              <a:rPr lang="en-US" dirty="0"/>
              <a:t>        Returns:</a:t>
            </a:r>
          </a:p>
          <a:p>
            <a:pPr marL="0" indent="0">
              <a:buNone/>
            </a:pPr>
            <a:r>
              <a:rPr lang="en-US" dirty="0"/>
              <a:t>               </a:t>
            </a:r>
            <a:r>
              <a:rPr lang="en-US" dirty="0" err="1"/>
              <a:t>np.ndarray</a:t>
            </a:r>
            <a:r>
              <a:rPr lang="en-US" dirty="0"/>
              <a:t>: Sigmoid-transformed values</a:t>
            </a:r>
          </a:p>
          <a:p>
            <a:pPr marL="0" indent="0">
              <a:buNone/>
            </a:pPr>
            <a:r>
              <a:rPr lang="en-US" dirty="0"/>
              <a:t>    """</a:t>
            </a:r>
          </a:p>
          <a:p>
            <a:pPr marL="0" indent="0">
              <a:buNone/>
            </a:pPr>
            <a:r>
              <a:rPr lang="en-US" dirty="0"/>
              <a:t>    # Numerical stability fix for large inputs</a:t>
            </a:r>
          </a:p>
          <a:p>
            <a:pPr marL="0" indent="0">
              <a:buNone/>
            </a:pPr>
            <a:r>
              <a:rPr lang="en-US" dirty="0"/>
              <a:t>    return 1 / (1 + </a:t>
            </a:r>
            <a:r>
              <a:rPr lang="en-US" dirty="0" err="1"/>
              <a:t>np.exp</a:t>
            </a:r>
            <a:r>
              <a:rPr lang="en-US" dirty="0"/>
              <a:t>(-x)) if x &gt; -50 else </a:t>
            </a:r>
            <a:r>
              <a:rPr lang="en-US" dirty="0" err="1"/>
              <a:t>np.exp</a:t>
            </a:r>
            <a:r>
              <a:rPr lang="en-US" dirty="0"/>
              <a:t>(x) / (1 + </a:t>
            </a:r>
            <a:r>
              <a:rPr lang="en-US" dirty="0" err="1"/>
              <a:t>np.exp</a:t>
            </a:r>
            <a:r>
              <a:rPr lang="en-US" dirty="0"/>
              <a:t>(x))</a:t>
            </a:r>
          </a:p>
          <a:p>
            <a:pPr marL="0" indent="0">
              <a:buNone/>
            </a:pPr>
            <a:endParaRPr lang="en-US" dirty="0"/>
          </a:p>
          <a:p>
            <a:pPr marL="0" indent="0">
              <a:buNone/>
            </a:pPr>
            <a:r>
              <a:rPr lang="en-US" dirty="0"/>
              <a:t># Example with sine wave peaks</a:t>
            </a:r>
          </a:p>
          <a:p>
            <a:pPr marL="0" indent="0">
              <a:buNone/>
            </a:pPr>
            <a:r>
              <a:rPr lang="en-US" dirty="0" err="1"/>
              <a:t>peak_candidates</a:t>
            </a:r>
            <a:r>
              <a:rPr lang="en-US" dirty="0"/>
              <a:t> = </a:t>
            </a:r>
            <a:r>
              <a:rPr lang="en-US" dirty="0" err="1"/>
              <a:t>np.where</a:t>
            </a:r>
            <a:r>
              <a:rPr lang="en-US" dirty="0"/>
              <a:t>(</a:t>
            </a:r>
            <a:r>
              <a:rPr lang="en-US" dirty="0" err="1"/>
              <a:t>sine_waves</a:t>
            </a:r>
            <a:r>
              <a:rPr lang="en-US" dirty="0"/>
              <a:t> &gt; 0.8)[0]  # Find potential peaks</a:t>
            </a:r>
          </a:p>
          <a:p>
            <a:pPr marL="0" indent="0">
              <a:buNone/>
            </a:pPr>
            <a:endParaRPr lang="en-US" dirty="0"/>
          </a:p>
          <a:p>
            <a:pPr marL="0" indent="0">
              <a:buNone/>
            </a:pPr>
            <a:r>
              <a:rPr lang="en-US" dirty="0"/>
              <a:t># Apply sigmoid to peak candidates (probability of being a true peak)</a:t>
            </a:r>
          </a:p>
          <a:p>
            <a:pPr marL="0" indent="0">
              <a:buNone/>
            </a:pPr>
            <a:r>
              <a:rPr lang="en-US" dirty="0" err="1"/>
              <a:t>peak_probabilities</a:t>
            </a:r>
            <a:r>
              <a:rPr lang="en-US" dirty="0"/>
              <a:t> = sigmoid(</a:t>
            </a:r>
            <a:r>
              <a:rPr lang="en-US" dirty="0" err="1"/>
              <a:t>sine_waves</a:t>
            </a:r>
            <a:r>
              <a:rPr lang="en-US" dirty="0"/>
              <a:t>[</a:t>
            </a:r>
            <a:r>
              <a:rPr lang="en-US" dirty="0" err="1"/>
              <a:t>peak_candidates</a:t>
            </a:r>
            <a:r>
              <a:rPr lang="en-US" dirty="0"/>
              <a:t>])</a:t>
            </a:r>
          </a:p>
          <a:p>
            <a:pPr marL="0" indent="0">
              <a:buNone/>
            </a:pPr>
            <a:endParaRPr lang="en-US" dirty="0"/>
          </a:p>
          <a:p>
            <a:pPr marL="0" indent="0">
              <a:buNone/>
            </a:pPr>
            <a:r>
              <a:rPr lang="en-US" dirty="0"/>
              <a:t>print(</a:t>
            </a:r>
            <a:r>
              <a:rPr lang="en-US" dirty="0" err="1"/>
              <a:t>f"Peak</a:t>
            </a:r>
            <a:r>
              <a:rPr lang="en-US" dirty="0"/>
              <a:t> probabilities: {</a:t>
            </a:r>
            <a:r>
              <a:rPr lang="en-US" dirty="0" err="1"/>
              <a:t>peak_probabilities</a:t>
            </a:r>
            <a:r>
              <a:rPr lang="en-US" dirty="0"/>
              <a:t>}")</a:t>
            </a:r>
          </a:p>
          <a:p>
            <a:endParaRPr lang="en-US" dirty="0"/>
          </a:p>
        </p:txBody>
      </p:sp>
      <p:sp>
        <p:nvSpPr>
          <p:cNvPr id="2" name="Footer Placeholder 1">
            <a:extLst>
              <a:ext uri="{FF2B5EF4-FFF2-40B4-BE49-F238E27FC236}">
                <a16:creationId xmlns:a16="http://schemas.microsoft.com/office/drawing/2014/main" id="{05F68016-5FC3-46DC-3484-C9C7221AE3BF}"/>
              </a:ext>
            </a:extLst>
          </p:cNvPr>
          <p:cNvSpPr>
            <a:spLocks noGrp="1"/>
          </p:cNvSpPr>
          <p:nvPr>
            <p:ph type="ftr" sz="quarter" idx="11"/>
          </p:nvPr>
        </p:nvSpPr>
        <p:spPr/>
        <p:txBody>
          <a:bodyPr/>
          <a:lstStyle/>
          <a:p>
            <a:r>
              <a:rPr lang="en-US"/>
              <a:t>All Rights Reserved : Author @ Rajendra Phani</a:t>
            </a:r>
          </a:p>
        </p:txBody>
      </p:sp>
      <p:sp>
        <p:nvSpPr>
          <p:cNvPr id="4" name="Slide Number Placeholder 3">
            <a:extLst>
              <a:ext uri="{FF2B5EF4-FFF2-40B4-BE49-F238E27FC236}">
                <a16:creationId xmlns:a16="http://schemas.microsoft.com/office/drawing/2014/main" id="{BC8331ED-5D47-FF9B-F013-E7F18F1AB720}"/>
              </a:ext>
            </a:extLst>
          </p:cNvPr>
          <p:cNvSpPr>
            <a:spLocks noGrp="1"/>
          </p:cNvSpPr>
          <p:nvPr>
            <p:ph type="sldNum" sz="quarter" idx="12"/>
          </p:nvPr>
        </p:nvSpPr>
        <p:spPr/>
        <p:txBody>
          <a:bodyPr/>
          <a:lstStyle/>
          <a:p>
            <a:fld id="{907420D2-4109-9D49-8EF9-D87C3079BF79}" type="slidenum">
              <a:rPr lang="en-US" smtClean="0"/>
              <a:t>8</a:t>
            </a:fld>
            <a:endParaRPr lang="en-US"/>
          </a:p>
        </p:txBody>
      </p:sp>
    </p:spTree>
    <p:extLst>
      <p:ext uri="{BB962C8B-B14F-4D97-AF65-F5344CB8AC3E}">
        <p14:creationId xmlns:p14="http://schemas.microsoft.com/office/powerpoint/2010/main" val="3485366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a blue line&#10;&#10;AI-generated content may be incorrect.">
            <a:extLst>
              <a:ext uri="{FF2B5EF4-FFF2-40B4-BE49-F238E27FC236}">
                <a16:creationId xmlns:a16="http://schemas.microsoft.com/office/drawing/2014/main" id="{8FC5B9BF-020A-79B3-1789-CC28E1E593B6}"/>
              </a:ext>
            </a:extLst>
          </p:cNvPr>
          <p:cNvPicPr>
            <a:picLocks noGrp="1" noChangeAspect="1"/>
          </p:cNvPicPr>
          <p:nvPr>
            <p:ph idx="1"/>
          </p:nvPr>
        </p:nvPicPr>
        <p:blipFill>
          <a:blip r:embed="rId2"/>
          <a:stretch>
            <a:fillRect/>
          </a:stretch>
        </p:blipFill>
        <p:spPr>
          <a:xfrm>
            <a:off x="1223319" y="370703"/>
            <a:ext cx="9885405" cy="6153665"/>
          </a:xfrm>
        </p:spPr>
      </p:pic>
      <p:sp>
        <p:nvSpPr>
          <p:cNvPr id="2" name="Footer Placeholder 1">
            <a:extLst>
              <a:ext uri="{FF2B5EF4-FFF2-40B4-BE49-F238E27FC236}">
                <a16:creationId xmlns:a16="http://schemas.microsoft.com/office/drawing/2014/main" id="{65BA7BBC-E4D5-43C3-46F1-0647E5129A3F}"/>
              </a:ext>
            </a:extLst>
          </p:cNvPr>
          <p:cNvSpPr>
            <a:spLocks noGrp="1"/>
          </p:cNvSpPr>
          <p:nvPr>
            <p:ph type="ftr" sz="quarter" idx="11"/>
          </p:nvPr>
        </p:nvSpPr>
        <p:spPr/>
        <p:txBody>
          <a:bodyPr/>
          <a:lstStyle/>
          <a:p>
            <a:r>
              <a:rPr lang="en-US"/>
              <a:t>All Rights Reserved : Author @ Rajendra Phani</a:t>
            </a:r>
          </a:p>
        </p:txBody>
      </p:sp>
      <p:sp>
        <p:nvSpPr>
          <p:cNvPr id="3" name="Slide Number Placeholder 2">
            <a:extLst>
              <a:ext uri="{FF2B5EF4-FFF2-40B4-BE49-F238E27FC236}">
                <a16:creationId xmlns:a16="http://schemas.microsoft.com/office/drawing/2014/main" id="{9AB26E82-1199-D726-474B-D7CD2EB1F44B}"/>
              </a:ext>
            </a:extLst>
          </p:cNvPr>
          <p:cNvSpPr>
            <a:spLocks noGrp="1"/>
          </p:cNvSpPr>
          <p:nvPr>
            <p:ph type="sldNum" sz="quarter" idx="12"/>
          </p:nvPr>
        </p:nvSpPr>
        <p:spPr/>
        <p:txBody>
          <a:bodyPr/>
          <a:lstStyle/>
          <a:p>
            <a:fld id="{907420D2-4109-9D49-8EF9-D87C3079BF79}" type="slidenum">
              <a:rPr lang="en-US" smtClean="0"/>
              <a:t>9</a:t>
            </a:fld>
            <a:endParaRPr lang="en-US"/>
          </a:p>
        </p:txBody>
      </p:sp>
    </p:spTree>
    <p:extLst>
      <p:ext uri="{BB962C8B-B14F-4D97-AF65-F5344CB8AC3E}">
        <p14:creationId xmlns:p14="http://schemas.microsoft.com/office/powerpoint/2010/main" val="517087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D2428-CE54-7893-B788-74A6FE0DABCE}"/>
              </a:ext>
            </a:extLst>
          </p:cNvPr>
          <p:cNvSpPr>
            <a:spLocks noGrp="1"/>
          </p:cNvSpPr>
          <p:nvPr>
            <p:ph type="title"/>
          </p:nvPr>
        </p:nvSpPr>
        <p:spPr>
          <a:xfrm>
            <a:off x="838200" y="365125"/>
            <a:ext cx="10515600" cy="1006475"/>
          </a:xfrm>
        </p:spPr>
        <p:txBody>
          <a:bodyPr>
            <a:normAutofit fontScale="90000"/>
          </a:bodyPr>
          <a:lstStyle/>
          <a:p>
            <a:r>
              <a:rPr lang="en-IN" b="1" dirty="0"/>
              <a:t>3. Tanh Activation Function</a:t>
            </a:r>
            <a:br>
              <a:rPr lang="en-IN" b="1" dirty="0"/>
            </a:br>
            <a:endParaRPr lang="en-US" dirty="0"/>
          </a:p>
        </p:txBody>
      </p:sp>
      <p:sp>
        <p:nvSpPr>
          <p:cNvPr id="3" name="Content Placeholder 2">
            <a:extLst>
              <a:ext uri="{FF2B5EF4-FFF2-40B4-BE49-F238E27FC236}">
                <a16:creationId xmlns:a16="http://schemas.microsoft.com/office/drawing/2014/main" id="{DDC3A091-082C-3C71-1C9F-BE0A820EC8A6}"/>
              </a:ext>
            </a:extLst>
          </p:cNvPr>
          <p:cNvSpPr>
            <a:spLocks noGrp="1"/>
          </p:cNvSpPr>
          <p:nvPr>
            <p:ph idx="1"/>
          </p:nvPr>
        </p:nvSpPr>
        <p:spPr>
          <a:xfrm>
            <a:off x="838200" y="1371600"/>
            <a:ext cx="10515600" cy="4805363"/>
          </a:xfrm>
        </p:spPr>
        <p:txBody>
          <a:bodyPr>
            <a:normAutofit/>
          </a:bodyPr>
          <a:lstStyle/>
          <a:p>
            <a:pPr marL="0" indent="0">
              <a:buNone/>
            </a:pPr>
            <a:r>
              <a:rPr lang="en-IN" b="1" dirty="0"/>
              <a:t>What it is</a:t>
            </a:r>
          </a:p>
          <a:p>
            <a:r>
              <a:rPr lang="en-IN" dirty="0"/>
              <a:t>f(x) = (</a:t>
            </a:r>
            <a:r>
              <a:rPr lang="en-IN" dirty="0" err="1"/>
              <a:t>e^x</a:t>
            </a:r>
            <a:r>
              <a:rPr lang="en-IN" dirty="0"/>
              <a:t> - e^{-x}) / (</a:t>
            </a:r>
            <a:r>
              <a:rPr lang="en-IN" dirty="0" err="1"/>
              <a:t>e^x</a:t>
            </a:r>
            <a:r>
              <a:rPr lang="en-IN" dirty="0"/>
              <a:t> + e^{-x})</a:t>
            </a:r>
          </a:p>
          <a:p>
            <a:r>
              <a:rPr lang="en-IN" dirty="0"/>
              <a:t>Formula : f(x) = (exp (x) - exp(-x)) / (exp(x) + exp(-x))</a:t>
            </a:r>
            <a:br>
              <a:rPr lang="en-IN" dirty="0"/>
            </a:br>
            <a:r>
              <a:rPr lang="en-IN" i="1" dirty="0"/>
              <a:t>Outputs values between -1 and 1</a:t>
            </a:r>
            <a:endParaRPr lang="en-IN" dirty="0"/>
          </a:p>
          <a:p>
            <a:pPr marL="0" indent="0">
              <a:buNone/>
            </a:pPr>
            <a:endParaRPr lang="en-IN" b="1" dirty="0"/>
          </a:p>
          <a:p>
            <a:pPr marL="0" indent="0">
              <a:buNone/>
            </a:pPr>
            <a:r>
              <a:rPr lang="en-IN" b="1" dirty="0"/>
              <a:t>Why we use it</a:t>
            </a:r>
          </a:p>
          <a:p>
            <a:r>
              <a:rPr lang="en-IN" b="1" dirty="0"/>
              <a:t>Zero-</a:t>
            </a:r>
            <a:r>
              <a:rPr lang="en-IN" b="1" dirty="0" err="1"/>
              <a:t>centered</a:t>
            </a:r>
            <a:r>
              <a:rPr lang="en-IN" b="1" dirty="0"/>
              <a:t> output</a:t>
            </a:r>
            <a:r>
              <a:rPr lang="en-IN" dirty="0"/>
              <a:t>: Better for gradient flow than sigmoid</a:t>
            </a:r>
          </a:p>
          <a:p>
            <a:r>
              <a:rPr lang="en-IN" b="1" dirty="0"/>
              <a:t>Faster convergence</a:t>
            </a:r>
            <a:r>
              <a:rPr lang="en-IN" dirty="0"/>
              <a:t> than sigmoid in hidden layers</a:t>
            </a:r>
          </a:p>
          <a:p>
            <a:r>
              <a:rPr lang="en-IN" b="1" dirty="0"/>
              <a:t>Natural fit for symmetric data</a:t>
            </a:r>
            <a:r>
              <a:rPr lang="en-IN" dirty="0"/>
              <a:t> (like sine waves with positive/negative cycles)</a:t>
            </a:r>
          </a:p>
          <a:p>
            <a:pPr marL="0" indent="0">
              <a:buNone/>
            </a:pPr>
            <a:br>
              <a:rPr lang="en-IN" dirty="0"/>
            </a:br>
            <a:endParaRPr lang="en-US" dirty="0"/>
          </a:p>
        </p:txBody>
      </p:sp>
      <p:sp>
        <p:nvSpPr>
          <p:cNvPr id="4" name="Footer Placeholder 3">
            <a:extLst>
              <a:ext uri="{FF2B5EF4-FFF2-40B4-BE49-F238E27FC236}">
                <a16:creationId xmlns:a16="http://schemas.microsoft.com/office/drawing/2014/main" id="{EE603D5E-293C-C4B8-0233-925D10FD417C}"/>
              </a:ext>
            </a:extLst>
          </p:cNvPr>
          <p:cNvSpPr>
            <a:spLocks noGrp="1"/>
          </p:cNvSpPr>
          <p:nvPr>
            <p:ph type="ftr" sz="quarter" idx="11"/>
          </p:nvPr>
        </p:nvSpPr>
        <p:spPr/>
        <p:txBody>
          <a:bodyPr/>
          <a:lstStyle/>
          <a:p>
            <a:r>
              <a:rPr lang="en-US"/>
              <a:t>All Rights Reserved : Author @ Rajendra Phani</a:t>
            </a:r>
          </a:p>
        </p:txBody>
      </p:sp>
      <p:sp>
        <p:nvSpPr>
          <p:cNvPr id="5" name="Slide Number Placeholder 4">
            <a:extLst>
              <a:ext uri="{FF2B5EF4-FFF2-40B4-BE49-F238E27FC236}">
                <a16:creationId xmlns:a16="http://schemas.microsoft.com/office/drawing/2014/main" id="{A10E4EDE-FD52-DBD1-4489-D08D08596942}"/>
              </a:ext>
            </a:extLst>
          </p:cNvPr>
          <p:cNvSpPr>
            <a:spLocks noGrp="1"/>
          </p:cNvSpPr>
          <p:nvPr>
            <p:ph type="sldNum" sz="quarter" idx="12"/>
          </p:nvPr>
        </p:nvSpPr>
        <p:spPr/>
        <p:txBody>
          <a:bodyPr/>
          <a:lstStyle/>
          <a:p>
            <a:fld id="{907420D2-4109-9D49-8EF9-D87C3079BF79}" type="slidenum">
              <a:rPr lang="en-US" smtClean="0"/>
              <a:t>10</a:t>
            </a:fld>
            <a:endParaRPr lang="en-US"/>
          </a:p>
        </p:txBody>
      </p:sp>
    </p:spTree>
    <p:extLst>
      <p:ext uri="{BB962C8B-B14F-4D97-AF65-F5344CB8AC3E}">
        <p14:creationId xmlns:p14="http://schemas.microsoft.com/office/powerpoint/2010/main" val="2803591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A4177-4677-1065-0E28-35C8D95C3EC5}"/>
              </a:ext>
            </a:extLst>
          </p:cNvPr>
          <p:cNvSpPr>
            <a:spLocks noGrp="1"/>
          </p:cNvSpPr>
          <p:nvPr>
            <p:ph idx="1"/>
          </p:nvPr>
        </p:nvSpPr>
        <p:spPr>
          <a:xfrm>
            <a:off x="1251678" y="397043"/>
            <a:ext cx="10178322" cy="5482550"/>
          </a:xfrm>
        </p:spPr>
        <p:txBody>
          <a:bodyPr>
            <a:normAutofit fontScale="92500"/>
          </a:bodyPr>
          <a:lstStyle/>
          <a:p>
            <a:pPr marL="0" indent="0">
              <a:buNone/>
            </a:pPr>
            <a:r>
              <a:rPr lang="en-US" b="1" dirty="0"/>
              <a:t>The tanh (hyperbolic tangent) </a:t>
            </a:r>
            <a:r>
              <a:rPr lang="en-US" dirty="0"/>
              <a:t>activation function is a widely used mathematical function in neural networks that maps any input value to a range between -1 and 1. It is defined mathematically as:</a:t>
            </a:r>
          </a:p>
          <a:p>
            <a:pPr marL="0" indent="0">
              <a:buNone/>
            </a:pPr>
            <a:endParaRPr lang="en-US" dirty="0"/>
          </a:p>
          <a:p>
            <a:pPr marL="0" indent="0">
              <a:buNone/>
            </a:pPr>
            <a:endParaRPr lang="en-US" dirty="0"/>
          </a:p>
          <a:p>
            <a:pPr marL="0" indent="0">
              <a:buNone/>
            </a:pPr>
            <a:r>
              <a:rPr lang="en-US" dirty="0"/>
              <a:t>			</a:t>
            </a:r>
          </a:p>
          <a:p>
            <a:pPr marL="0" indent="0">
              <a:buNone/>
            </a:pPr>
            <a:r>
              <a:rPr lang="en-US" dirty="0"/>
              <a:t>Here,  is Euler’s number, approximately 2.718, and  is the input to the function. This function is similar in shape to the sigmoid but centered around zero, meaning its output values are symmetric, ranging from negative to positive, unlike sigmoid which outputs between 0 and 1.</a:t>
            </a:r>
          </a:p>
          <a:p>
            <a:pPr marL="0" indent="0">
              <a:buNone/>
            </a:pPr>
            <a:r>
              <a:rPr lang="en-US" dirty="0"/>
              <a:t>Because its output is zero-centered, the tanh function often leads to faster convergence in training neural networks compared to sigmoid. It also helps in mitigating the vanishing gradient problem to some extent by providing stronger gradients during backpropagation. This makes tanh especially useful for hidden layers in deep networks, allowing them to model complex patterns in data more effectively.</a:t>
            </a:r>
          </a:p>
          <a:p>
            <a:pPr marL="0" indent="0">
              <a:buNone/>
            </a:pPr>
            <a:r>
              <a:rPr lang="en-US" dirty="0"/>
              <a:t>In summary, the tanh activation function transforms inputs into a range of -1 to 1, is zero-centered, and can facilitate improved learning dynamics compared to sigmoid activation, making it a popular choice in deep learning models</a:t>
            </a:r>
          </a:p>
        </p:txBody>
      </p:sp>
      <p:pic>
        <p:nvPicPr>
          <p:cNvPr id="5" name="Picture 4" descr="A mathematical equation with white text&#10;&#10;AI-generated content may be incorrect.">
            <a:extLst>
              <a:ext uri="{FF2B5EF4-FFF2-40B4-BE49-F238E27FC236}">
                <a16:creationId xmlns:a16="http://schemas.microsoft.com/office/drawing/2014/main" id="{7162F8E8-EDFE-57C7-517F-B1462780DF23}"/>
              </a:ext>
            </a:extLst>
          </p:cNvPr>
          <p:cNvPicPr>
            <a:picLocks noChangeAspect="1"/>
          </p:cNvPicPr>
          <p:nvPr/>
        </p:nvPicPr>
        <p:blipFill>
          <a:blip r:embed="rId2"/>
          <a:stretch>
            <a:fillRect/>
          </a:stretch>
        </p:blipFill>
        <p:spPr>
          <a:xfrm>
            <a:off x="3776579" y="1219038"/>
            <a:ext cx="4470400" cy="901700"/>
          </a:xfrm>
          <a:prstGeom prst="rect">
            <a:avLst/>
          </a:prstGeom>
        </p:spPr>
      </p:pic>
      <p:sp>
        <p:nvSpPr>
          <p:cNvPr id="2" name="Footer Placeholder 1">
            <a:extLst>
              <a:ext uri="{FF2B5EF4-FFF2-40B4-BE49-F238E27FC236}">
                <a16:creationId xmlns:a16="http://schemas.microsoft.com/office/drawing/2014/main" id="{A4DDB043-5983-E544-56BF-D6206AD84B2D}"/>
              </a:ext>
            </a:extLst>
          </p:cNvPr>
          <p:cNvSpPr>
            <a:spLocks noGrp="1"/>
          </p:cNvSpPr>
          <p:nvPr>
            <p:ph type="ftr" sz="quarter" idx="11"/>
          </p:nvPr>
        </p:nvSpPr>
        <p:spPr/>
        <p:txBody>
          <a:bodyPr/>
          <a:lstStyle/>
          <a:p>
            <a:r>
              <a:rPr lang="en-US"/>
              <a:t>All Rights Reserved : Author @ Rajendra Phani</a:t>
            </a:r>
          </a:p>
        </p:txBody>
      </p:sp>
      <p:sp>
        <p:nvSpPr>
          <p:cNvPr id="4" name="Slide Number Placeholder 3">
            <a:extLst>
              <a:ext uri="{FF2B5EF4-FFF2-40B4-BE49-F238E27FC236}">
                <a16:creationId xmlns:a16="http://schemas.microsoft.com/office/drawing/2014/main" id="{513D8438-2F7B-4D2F-ADD9-D92180F64EC5}"/>
              </a:ext>
            </a:extLst>
          </p:cNvPr>
          <p:cNvSpPr>
            <a:spLocks noGrp="1"/>
          </p:cNvSpPr>
          <p:nvPr>
            <p:ph type="sldNum" sz="quarter" idx="12"/>
          </p:nvPr>
        </p:nvSpPr>
        <p:spPr/>
        <p:txBody>
          <a:bodyPr/>
          <a:lstStyle/>
          <a:p>
            <a:fld id="{907420D2-4109-9D49-8EF9-D87C3079BF79}" type="slidenum">
              <a:rPr lang="en-US" smtClean="0"/>
              <a:t>11</a:t>
            </a:fld>
            <a:endParaRPr lang="en-US"/>
          </a:p>
        </p:txBody>
      </p:sp>
    </p:spTree>
    <p:extLst>
      <p:ext uri="{BB962C8B-B14F-4D97-AF65-F5344CB8AC3E}">
        <p14:creationId xmlns:p14="http://schemas.microsoft.com/office/powerpoint/2010/main" val="3529060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A6C105-AEBB-4F18-07BE-08ECA5C4CD42}"/>
              </a:ext>
            </a:extLst>
          </p:cNvPr>
          <p:cNvSpPr>
            <a:spLocks noGrp="1"/>
          </p:cNvSpPr>
          <p:nvPr>
            <p:ph idx="1"/>
          </p:nvPr>
        </p:nvSpPr>
        <p:spPr>
          <a:xfrm>
            <a:off x="838200" y="541422"/>
            <a:ext cx="10515600" cy="5635542"/>
          </a:xfrm>
        </p:spPr>
        <p:txBody>
          <a:bodyPr>
            <a:normAutofit fontScale="92500" lnSpcReduction="20000"/>
          </a:bodyPr>
          <a:lstStyle/>
          <a:p>
            <a:pPr marL="0" indent="0">
              <a:buNone/>
            </a:pPr>
            <a:r>
              <a:rPr lang="en-US" dirty="0"/>
              <a:t>def tanh(x):</a:t>
            </a:r>
          </a:p>
          <a:p>
            <a:pPr marL="0" indent="0">
              <a:buNone/>
            </a:pPr>
            <a:r>
              <a:rPr lang="en-US" dirty="0"/>
              <a:t>    """Tanh activation: f(x) = (</a:t>
            </a:r>
            <a:r>
              <a:rPr lang="en-US" dirty="0" err="1"/>
              <a:t>e^x</a:t>
            </a:r>
            <a:r>
              <a:rPr lang="en-US" dirty="0"/>
              <a:t> - e^{-x}) / (</a:t>
            </a:r>
            <a:r>
              <a:rPr lang="en-US" dirty="0" err="1"/>
              <a:t>e^x</a:t>
            </a:r>
            <a:r>
              <a:rPr lang="en-US" dirty="0"/>
              <a:t> + e^{-x})</a:t>
            </a:r>
          </a:p>
          <a:p>
            <a:pPr marL="0" indent="0">
              <a:buNone/>
            </a:pPr>
            <a:r>
              <a:rPr lang="en-US" dirty="0"/>
              <a:t>    </a:t>
            </a:r>
          </a:p>
          <a:p>
            <a:pPr marL="0" indent="0">
              <a:buNone/>
            </a:pPr>
            <a:r>
              <a:rPr lang="en-US" dirty="0"/>
              <a:t>    </a:t>
            </a:r>
            <a:r>
              <a:rPr lang="en-US" dirty="0" err="1"/>
              <a:t>Args</a:t>
            </a:r>
            <a:r>
              <a:rPr lang="en-US" dirty="0"/>
              <a:t>:</a:t>
            </a:r>
          </a:p>
          <a:p>
            <a:pPr marL="0" indent="0">
              <a:buNone/>
            </a:pPr>
            <a:r>
              <a:rPr lang="en-US" dirty="0"/>
              <a:t>        x (</a:t>
            </a:r>
            <a:r>
              <a:rPr lang="en-US" dirty="0" err="1"/>
              <a:t>np.ndarray</a:t>
            </a:r>
            <a:r>
              <a:rPr lang="en-US" dirty="0"/>
              <a:t>): Input data</a:t>
            </a:r>
          </a:p>
          <a:p>
            <a:pPr marL="0" indent="0">
              <a:buNone/>
            </a:pPr>
            <a:r>
              <a:rPr lang="en-US" dirty="0"/>
              <a:t>    </a:t>
            </a:r>
          </a:p>
          <a:p>
            <a:pPr marL="0" indent="0">
              <a:buNone/>
            </a:pPr>
            <a:r>
              <a:rPr lang="en-US" dirty="0"/>
              <a:t>    Returns:</a:t>
            </a:r>
          </a:p>
          <a:p>
            <a:pPr marL="0" indent="0">
              <a:buNone/>
            </a:pPr>
            <a:r>
              <a:rPr lang="en-US" dirty="0"/>
              <a:t>        </a:t>
            </a:r>
            <a:r>
              <a:rPr lang="en-US" dirty="0" err="1"/>
              <a:t>np.ndarray</a:t>
            </a:r>
            <a:r>
              <a:rPr lang="en-US" dirty="0"/>
              <a:t>: Hyperbolic tangent values</a:t>
            </a:r>
          </a:p>
          <a:p>
            <a:pPr marL="0" indent="0">
              <a:buNone/>
            </a:pPr>
            <a:r>
              <a:rPr lang="en-US" dirty="0"/>
              <a:t>    """</a:t>
            </a:r>
          </a:p>
          <a:p>
            <a:pPr marL="0" indent="0">
              <a:buNone/>
            </a:pPr>
            <a:r>
              <a:rPr lang="en-US" dirty="0"/>
              <a:t>    return </a:t>
            </a:r>
            <a:r>
              <a:rPr lang="en-US" dirty="0" err="1"/>
              <a:t>np.tanh</a:t>
            </a:r>
            <a:r>
              <a:rPr lang="en-US" dirty="0"/>
              <a:t>(x)  # NumPy's optimized implementation</a:t>
            </a:r>
          </a:p>
          <a:p>
            <a:pPr marL="0" indent="0">
              <a:buNone/>
            </a:pPr>
            <a:endParaRPr lang="en-US" dirty="0"/>
          </a:p>
          <a:p>
            <a:pPr marL="0" indent="0">
              <a:buNone/>
            </a:pPr>
            <a:r>
              <a:rPr lang="en-US" dirty="0"/>
              <a:t># Apply to full sine wave (zero-centered)</a:t>
            </a:r>
          </a:p>
          <a:p>
            <a:pPr marL="0" indent="0">
              <a:buNone/>
            </a:pPr>
            <a:r>
              <a:rPr lang="en-US" dirty="0" err="1"/>
              <a:t>tanh_sine</a:t>
            </a:r>
            <a:r>
              <a:rPr lang="en-US" dirty="0"/>
              <a:t> = tanh(</a:t>
            </a:r>
            <a:r>
              <a:rPr lang="en-US" dirty="0" err="1"/>
              <a:t>sine_waves</a:t>
            </a:r>
            <a:r>
              <a:rPr lang="en-US" dirty="0"/>
              <a:t>)</a:t>
            </a:r>
          </a:p>
          <a:p>
            <a:pPr marL="0" indent="0">
              <a:buNone/>
            </a:pPr>
            <a:endParaRPr lang="en-US" dirty="0"/>
          </a:p>
          <a:p>
            <a:pPr marL="0" indent="0">
              <a:buNone/>
            </a:pPr>
            <a:r>
              <a:rPr lang="en-US" dirty="0"/>
              <a:t>print(</a:t>
            </a:r>
            <a:r>
              <a:rPr lang="en-US" dirty="0" err="1"/>
              <a:t>f"Tanh</a:t>
            </a:r>
            <a:r>
              <a:rPr lang="en-US" dirty="0"/>
              <a:t>-sine wave min: {</a:t>
            </a:r>
            <a:r>
              <a:rPr lang="en-US" dirty="0" err="1"/>
              <a:t>np.min</a:t>
            </a:r>
            <a:r>
              <a:rPr lang="en-US" dirty="0"/>
              <a:t>(</a:t>
            </a:r>
            <a:r>
              <a:rPr lang="en-US" dirty="0" err="1"/>
              <a:t>tanh_sine</a:t>
            </a:r>
            <a:r>
              <a:rPr lang="en-US" dirty="0"/>
              <a:t>):.4f}, max: {</a:t>
            </a:r>
            <a:r>
              <a:rPr lang="en-US" dirty="0" err="1"/>
              <a:t>np.max</a:t>
            </a:r>
            <a:r>
              <a:rPr lang="en-US" dirty="0"/>
              <a:t>(</a:t>
            </a:r>
            <a:r>
              <a:rPr lang="en-US" dirty="0" err="1"/>
              <a:t>tanh_sine</a:t>
            </a:r>
            <a:r>
              <a:rPr lang="en-US" dirty="0"/>
              <a:t>):.4f}")</a:t>
            </a:r>
          </a:p>
          <a:p>
            <a:pPr marL="0" indent="0">
              <a:buNone/>
            </a:pPr>
            <a:endParaRPr lang="en-US" dirty="0"/>
          </a:p>
        </p:txBody>
      </p:sp>
      <p:sp>
        <p:nvSpPr>
          <p:cNvPr id="2" name="Footer Placeholder 1">
            <a:extLst>
              <a:ext uri="{FF2B5EF4-FFF2-40B4-BE49-F238E27FC236}">
                <a16:creationId xmlns:a16="http://schemas.microsoft.com/office/drawing/2014/main" id="{927FB4DA-758C-803E-AF93-57549DDBEFCB}"/>
              </a:ext>
            </a:extLst>
          </p:cNvPr>
          <p:cNvSpPr>
            <a:spLocks noGrp="1"/>
          </p:cNvSpPr>
          <p:nvPr>
            <p:ph type="ftr" sz="quarter" idx="11"/>
          </p:nvPr>
        </p:nvSpPr>
        <p:spPr/>
        <p:txBody>
          <a:bodyPr/>
          <a:lstStyle/>
          <a:p>
            <a:r>
              <a:rPr lang="en-US"/>
              <a:t>All Rights Reserved : Author @ Rajendra Phani</a:t>
            </a:r>
          </a:p>
        </p:txBody>
      </p:sp>
      <p:sp>
        <p:nvSpPr>
          <p:cNvPr id="4" name="Slide Number Placeholder 3">
            <a:extLst>
              <a:ext uri="{FF2B5EF4-FFF2-40B4-BE49-F238E27FC236}">
                <a16:creationId xmlns:a16="http://schemas.microsoft.com/office/drawing/2014/main" id="{972D2110-AEFD-650D-871D-1F670D187C0C}"/>
              </a:ext>
            </a:extLst>
          </p:cNvPr>
          <p:cNvSpPr>
            <a:spLocks noGrp="1"/>
          </p:cNvSpPr>
          <p:nvPr>
            <p:ph type="sldNum" sz="quarter" idx="12"/>
          </p:nvPr>
        </p:nvSpPr>
        <p:spPr/>
        <p:txBody>
          <a:bodyPr/>
          <a:lstStyle/>
          <a:p>
            <a:fld id="{907420D2-4109-9D49-8EF9-D87C3079BF79}" type="slidenum">
              <a:rPr lang="en-US" smtClean="0"/>
              <a:t>12</a:t>
            </a:fld>
            <a:endParaRPr lang="en-US"/>
          </a:p>
        </p:txBody>
      </p:sp>
    </p:spTree>
    <p:extLst>
      <p:ext uri="{BB962C8B-B14F-4D97-AF65-F5344CB8AC3E}">
        <p14:creationId xmlns:p14="http://schemas.microsoft.com/office/powerpoint/2010/main" val="3032650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of a function&#10;&#10;AI-generated content may be incorrect.">
            <a:extLst>
              <a:ext uri="{FF2B5EF4-FFF2-40B4-BE49-F238E27FC236}">
                <a16:creationId xmlns:a16="http://schemas.microsoft.com/office/drawing/2014/main" id="{B4D1FEDA-FE05-54A0-9E87-ECF91B265ABC}"/>
              </a:ext>
            </a:extLst>
          </p:cNvPr>
          <p:cNvPicPr>
            <a:picLocks noGrp="1" noChangeAspect="1"/>
          </p:cNvPicPr>
          <p:nvPr>
            <p:ph idx="1"/>
          </p:nvPr>
        </p:nvPicPr>
        <p:blipFill>
          <a:blip r:embed="rId2"/>
          <a:stretch>
            <a:fillRect/>
          </a:stretch>
        </p:blipFill>
        <p:spPr>
          <a:xfrm>
            <a:off x="1272746" y="543697"/>
            <a:ext cx="9673909" cy="5647038"/>
          </a:xfrm>
        </p:spPr>
      </p:pic>
      <p:sp>
        <p:nvSpPr>
          <p:cNvPr id="2" name="Footer Placeholder 1">
            <a:extLst>
              <a:ext uri="{FF2B5EF4-FFF2-40B4-BE49-F238E27FC236}">
                <a16:creationId xmlns:a16="http://schemas.microsoft.com/office/drawing/2014/main" id="{14C0AB31-5721-C0E1-4B42-AC798403D971}"/>
              </a:ext>
            </a:extLst>
          </p:cNvPr>
          <p:cNvSpPr>
            <a:spLocks noGrp="1"/>
          </p:cNvSpPr>
          <p:nvPr>
            <p:ph type="ftr" sz="quarter" idx="11"/>
          </p:nvPr>
        </p:nvSpPr>
        <p:spPr/>
        <p:txBody>
          <a:bodyPr/>
          <a:lstStyle/>
          <a:p>
            <a:r>
              <a:rPr lang="en-US"/>
              <a:t>All Rights Reserved : Author @ Rajendra Phani</a:t>
            </a:r>
          </a:p>
        </p:txBody>
      </p:sp>
      <p:sp>
        <p:nvSpPr>
          <p:cNvPr id="3" name="Slide Number Placeholder 2">
            <a:extLst>
              <a:ext uri="{FF2B5EF4-FFF2-40B4-BE49-F238E27FC236}">
                <a16:creationId xmlns:a16="http://schemas.microsoft.com/office/drawing/2014/main" id="{60B824BC-5A01-285A-ADE4-49B462711080}"/>
              </a:ext>
            </a:extLst>
          </p:cNvPr>
          <p:cNvSpPr>
            <a:spLocks noGrp="1"/>
          </p:cNvSpPr>
          <p:nvPr>
            <p:ph type="sldNum" sz="quarter" idx="12"/>
          </p:nvPr>
        </p:nvSpPr>
        <p:spPr/>
        <p:txBody>
          <a:bodyPr/>
          <a:lstStyle/>
          <a:p>
            <a:fld id="{907420D2-4109-9D49-8EF9-D87C3079BF79}" type="slidenum">
              <a:rPr lang="en-US" smtClean="0"/>
              <a:t>13</a:t>
            </a:fld>
            <a:endParaRPr lang="en-US"/>
          </a:p>
        </p:txBody>
      </p:sp>
    </p:spTree>
    <p:extLst>
      <p:ext uri="{BB962C8B-B14F-4D97-AF65-F5344CB8AC3E}">
        <p14:creationId xmlns:p14="http://schemas.microsoft.com/office/powerpoint/2010/main" val="1118636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14381-CD6F-6012-DF5E-2898BE9C112A}"/>
              </a:ext>
            </a:extLst>
          </p:cNvPr>
          <p:cNvSpPr>
            <a:spLocks noGrp="1"/>
          </p:cNvSpPr>
          <p:nvPr>
            <p:ph type="title"/>
          </p:nvPr>
        </p:nvSpPr>
        <p:spPr>
          <a:xfrm>
            <a:off x="838200" y="365125"/>
            <a:ext cx="10515600" cy="1018507"/>
          </a:xfrm>
        </p:spPr>
        <p:txBody>
          <a:bodyPr>
            <a:normAutofit fontScale="90000"/>
          </a:bodyPr>
          <a:lstStyle/>
          <a:p>
            <a:r>
              <a:rPr lang="en-IN" b="1" dirty="0"/>
              <a:t>4. Softmax Activation Function </a:t>
            </a:r>
            <a:br>
              <a:rPr lang="en-IN" b="1" dirty="0"/>
            </a:br>
            <a:endParaRPr lang="en-US" dirty="0"/>
          </a:p>
        </p:txBody>
      </p:sp>
      <p:sp>
        <p:nvSpPr>
          <p:cNvPr id="3" name="Content Placeholder 2">
            <a:extLst>
              <a:ext uri="{FF2B5EF4-FFF2-40B4-BE49-F238E27FC236}">
                <a16:creationId xmlns:a16="http://schemas.microsoft.com/office/drawing/2014/main" id="{EA65AEC1-C23B-BFBD-03BB-5F9E508C1D4C}"/>
              </a:ext>
            </a:extLst>
          </p:cNvPr>
          <p:cNvSpPr>
            <a:spLocks noGrp="1"/>
          </p:cNvSpPr>
          <p:nvPr>
            <p:ph idx="1"/>
          </p:nvPr>
        </p:nvSpPr>
        <p:spPr/>
        <p:txBody>
          <a:bodyPr>
            <a:normAutofit lnSpcReduction="10000"/>
          </a:bodyPr>
          <a:lstStyle/>
          <a:p>
            <a:pPr marL="0" indent="0">
              <a:buNone/>
            </a:pPr>
            <a:r>
              <a:rPr lang="en-IN" b="1" dirty="0"/>
              <a:t>What it is</a:t>
            </a:r>
          </a:p>
          <a:p>
            <a:r>
              <a:rPr lang="en-IN" dirty="0" err="1"/>
              <a:t>f_i</a:t>
            </a:r>
            <a:r>
              <a:rPr lang="en-IN" dirty="0"/>
              <a:t> = e^{</a:t>
            </a:r>
            <a:r>
              <a:rPr lang="en-IN" dirty="0" err="1"/>
              <a:t>x_i</a:t>
            </a:r>
            <a:r>
              <a:rPr lang="en-IN" dirty="0"/>
              <a:t>} / </a:t>
            </a:r>
            <a:r>
              <a:rPr lang="el-GR" dirty="0"/>
              <a:t>Σ(</a:t>
            </a:r>
            <a:r>
              <a:rPr lang="en-IN" dirty="0"/>
              <a:t>e^{</a:t>
            </a:r>
            <a:r>
              <a:rPr lang="en-IN" dirty="0" err="1"/>
              <a:t>x_j</a:t>
            </a:r>
            <a:r>
              <a:rPr lang="en-IN" dirty="0"/>
              <a:t>})</a:t>
            </a:r>
            <a:br>
              <a:rPr lang="en-IN" dirty="0"/>
            </a:br>
            <a:r>
              <a:rPr lang="en-IN" i="1" dirty="0"/>
              <a:t>Converts raw scores into probabilities that sum to 1</a:t>
            </a:r>
            <a:endParaRPr lang="en-IN" dirty="0"/>
          </a:p>
          <a:p>
            <a:pPr marL="0" indent="0">
              <a:buNone/>
            </a:pPr>
            <a:r>
              <a:rPr lang="en-IN" b="1" dirty="0"/>
              <a:t> Why we use it</a:t>
            </a:r>
          </a:p>
          <a:p>
            <a:r>
              <a:rPr lang="en-IN" b="1" dirty="0"/>
              <a:t>Multi-class classification</a:t>
            </a:r>
            <a:r>
              <a:rPr lang="en-IN" dirty="0"/>
              <a:t>: Only for </a:t>
            </a:r>
            <a:r>
              <a:rPr lang="en-IN" b="1" dirty="0"/>
              <a:t>final output layer</a:t>
            </a:r>
            <a:r>
              <a:rPr lang="en-IN" dirty="0"/>
              <a:t> (e.g., "what type of wave is this?")</a:t>
            </a:r>
          </a:p>
          <a:p>
            <a:r>
              <a:rPr lang="en-IN" b="1" dirty="0"/>
              <a:t>Probability interpretation</a:t>
            </a:r>
            <a:r>
              <a:rPr lang="en-IN" dirty="0"/>
              <a:t>: Each output = probability of class </a:t>
            </a:r>
            <a:r>
              <a:rPr lang="en-IN" dirty="0" err="1"/>
              <a:t>i</a:t>
            </a:r>
            <a:endParaRPr lang="en-IN" dirty="0"/>
          </a:p>
          <a:p>
            <a:r>
              <a:rPr lang="en-IN" b="1" dirty="0"/>
              <a:t>Guaranteed sum=1</a:t>
            </a:r>
            <a:r>
              <a:rPr lang="en-IN" dirty="0"/>
              <a:t>: Critical for multi-class predictions</a:t>
            </a:r>
          </a:p>
          <a:p>
            <a:pPr marL="0" indent="0">
              <a:buNone/>
            </a:pPr>
            <a:br>
              <a:rPr lang="en-IN" dirty="0"/>
            </a:br>
            <a:endParaRPr lang="en-US" dirty="0"/>
          </a:p>
        </p:txBody>
      </p:sp>
      <p:sp>
        <p:nvSpPr>
          <p:cNvPr id="4" name="Footer Placeholder 3">
            <a:extLst>
              <a:ext uri="{FF2B5EF4-FFF2-40B4-BE49-F238E27FC236}">
                <a16:creationId xmlns:a16="http://schemas.microsoft.com/office/drawing/2014/main" id="{15CE3325-8871-7D5C-8C7B-B10B4781292C}"/>
              </a:ext>
            </a:extLst>
          </p:cNvPr>
          <p:cNvSpPr>
            <a:spLocks noGrp="1"/>
          </p:cNvSpPr>
          <p:nvPr>
            <p:ph type="ftr" sz="quarter" idx="11"/>
          </p:nvPr>
        </p:nvSpPr>
        <p:spPr/>
        <p:txBody>
          <a:bodyPr/>
          <a:lstStyle/>
          <a:p>
            <a:r>
              <a:rPr lang="en-US"/>
              <a:t>All Rights Reserved : Author @ Rajendra Phani</a:t>
            </a:r>
          </a:p>
        </p:txBody>
      </p:sp>
      <p:sp>
        <p:nvSpPr>
          <p:cNvPr id="5" name="Slide Number Placeholder 4">
            <a:extLst>
              <a:ext uri="{FF2B5EF4-FFF2-40B4-BE49-F238E27FC236}">
                <a16:creationId xmlns:a16="http://schemas.microsoft.com/office/drawing/2014/main" id="{1118B154-C464-35AE-2D9E-461F0F9E47B0}"/>
              </a:ext>
            </a:extLst>
          </p:cNvPr>
          <p:cNvSpPr>
            <a:spLocks noGrp="1"/>
          </p:cNvSpPr>
          <p:nvPr>
            <p:ph type="sldNum" sz="quarter" idx="12"/>
          </p:nvPr>
        </p:nvSpPr>
        <p:spPr/>
        <p:txBody>
          <a:bodyPr/>
          <a:lstStyle/>
          <a:p>
            <a:fld id="{907420D2-4109-9D49-8EF9-D87C3079BF79}" type="slidenum">
              <a:rPr lang="en-US" smtClean="0"/>
              <a:t>14</a:t>
            </a:fld>
            <a:endParaRPr lang="en-US"/>
          </a:p>
        </p:txBody>
      </p:sp>
    </p:spTree>
    <p:extLst>
      <p:ext uri="{BB962C8B-B14F-4D97-AF65-F5344CB8AC3E}">
        <p14:creationId xmlns:p14="http://schemas.microsoft.com/office/powerpoint/2010/main" val="1848448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6D0C3A-276D-06E5-143A-C7181B68C497}"/>
              </a:ext>
            </a:extLst>
          </p:cNvPr>
          <p:cNvSpPr>
            <a:spLocks noGrp="1"/>
          </p:cNvSpPr>
          <p:nvPr>
            <p:ph idx="1"/>
          </p:nvPr>
        </p:nvSpPr>
        <p:spPr>
          <a:xfrm>
            <a:off x="1251678" y="890337"/>
            <a:ext cx="10178322" cy="4989255"/>
          </a:xfrm>
        </p:spPr>
        <p:txBody>
          <a:bodyPr>
            <a:normAutofit fontScale="85000" lnSpcReduction="10000"/>
          </a:bodyPr>
          <a:lstStyle/>
          <a:p>
            <a:r>
              <a:rPr lang="en-US" dirty="0"/>
              <a:t>The softmax activation function is used in neural networks to convert a vector of real-valued scores (logits) into probabilities that sum to 1. This makes it particularly useful in the output layer for multiclass classification tasks, where the goal is to predict the likelihood of an input belonging to each possible class.</a:t>
            </a:r>
          </a:p>
          <a:p>
            <a:r>
              <a:rPr lang="en-US" dirty="0"/>
              <a:t>The function works by exponentiating each score to ensure all values are positive, then normalizing these values by dividing each exponentiated score by the sum of all exponentiated scores in the vector. Mathematically, for a vector , the softmax function for the  class is defined as:</a:t>
            </a:r>
          </a:p>
          <a:p>
            <a:pPr marL="0" indent="0">
              <a:buNone/>
            </a:pPr>
            <a:endParaRPr lang="en-US" dirty="0"/>
          </a:p>
          <a:p>
            <a:pPr marL="0" indent="0">
              <a:buNone/>
            </a:pPr>
            <a:r>
              <a:rPr lang="en-US" dirty="0"/>
              <a:t>			</a:t>
            </a:r>
          </a:p>
          <a:p>
            <a:r>
              <a:rPr lang="en-US" dirty="0"/>
              <a:t>where  is the number of classes, and  is Euler’s number (approximately 2.718).</a:t>
            </a:r>
          </a:p>
          <a:p>
            <a:r>
              <a:rPr lang="en-US" dirty="0"/>
              <a:t>This transformation produces a probability distribution that is easy to interpret, where each value represents the probability of the input belonging to the corresponding class, and all probabilities add up to 1. Softmax is widely used in classification problems such as image recognition, document categorization, and speech recognition to provide probabilistic outputs that guide decision-making and model evaluation.</a:t>
            </a:r>
          </a:p>
          <a:p>
            <a:r>
              <a:rPr lang="en-US" dirty="0"/>
              <a:t>In summary, softmax converts raw network outputs into probabilities, enabling neural networks to perform effective and interpretable multiclass classification</a:t>
            </a:r>
          </a:p>
        </p:txBody>
      </p:sp>
      <p:pic>
        <p:nvPicPr>
          <p:cNvPr id="5" name="Picture 4" descr="A black background with white text&#10;&#10;AI-generated content may be incorrect.">
            <a:extLst>
              <a:ext uri="{FF2B5EF4-FFF2-40B4-BE49-F238E27FC236}">
                <a16:creationId xmlns:a16="http://schemas.microsoft.com/office/drawing/2014/main" id="{8544A1DE-CE7E-C9E4-5294-02CF4A9952DB}"/>
              </a:ext>
            </a:extLst>
          </p:cNvPr>
          <p:cNvPicPr>
            <a:picLocks noChangeAspect="1"/>
          </p:cNvPicPr>
          <p:nvPr/>
        </p:nvPicPr>
        <p:blipFill>
          <a:blip r:embed="rId2"/>
          <a:stretch>
            <a:fillRect/>
          </a:stretch>
        </p:blipFill>
        <p:spPr>
          <a:xfrm>
            <a:off x="4678279" y="2661064"/>
            <a:ext cx="2667000" cy="723900"/>
          </a:xfrm>
          <a:prstGeom prst="rect">
            <a:avLst/>
          </a:prstGeom>
        </p:spPr>
      </p:pic>
      <p:sp>
        <p:nvSpPr>
          <p:cNvPr id="2" name="Footer Placeholder 1">
            <a:extLst>
              <a:ext uri="{FF2B5EF4-FFF2-40B4-BE49-F238E27FC236}">
                <a16:creationId xmlns:a16="http://schemas.microsoft.com/office/drawing/2014/main" id="{0EC3119F-B4E8-760A-6328-591000A6661F}"/>
              </a:ext>
            </a:extLst>
          </p:cNvPr>
          <p:cNvSpPr>
            <a:spLocks noGrp="1"/>
          </p:cNvSpPr>
          <p:nvPr>
            <p:ph type="ftr" sz="quarter" idx="11"/>
          </p:nvPr>
        </p:nvSpPr>
        <p:spPr/>
        <p:txBody>
          <a:bodyPr/>
          <a:lstStyle/>
          <a:p>
            <a:r>
              <a:rPr lang="en-US"/>
              <a:t>All Rights Reserved : Author @ Rajendra Phani</a:t>
            </a:r>
          </a:p>
        </p:txBody>
      </p:sp>
      <p:sp>
        <p:nvSpPr>
          <p:cNvPr id="4" name="Slide Number Placeholder 3">
            <a:extLst>
              <a:ext uri="{FF2B5EF4-FFF2-40B4-BE49-F238E27FC236}">
                <a16:creationId xmlns:a16="http://schemas.microsoft.com/office/drawing/2014/main" id="{0473EF31-BD29-3796-84E3-39ACE17360EA}"/>
              </a:ext>
            </a:extLst>
          </p:cNvPr>
          <p:cNvSpPr>
            <a:spLocks noGrp="1"/>
          </p:cNvSpPr>
          <p:nvPr>
            <p:ph type="sldNum" sz="quarter" idx="12"/>
          </p:nvPr>
        </p:nvSpPr>
        <p:spPr/>
        <p:txBody>
          <a:bodyPr/>
          <a:lstStyle/>
          <a:p>
            <a:fld id="{907420D2-4109-9D49-8EF9-D87C3079BF79}" type="slidenum">
              <a:rPr lang="en-US" smtClean="0"/>
              <a:t>15</a:t>
            </a:fld>
            <a:endParaRPr lang="en-US"/>
          </a:p>
        </p:txBody>
      </p:sp>
    </p:spTree>
    <p:extLst>
      <p:ext uri="{BB962C8B-B14F-4D97-AF65-F5344CB8AC3E}">
        <p14:creationId xmlns:p14="http://schemas.microsoft.com/office/powerpoint/2010/main" val="1302991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2F63D3-627C-BF48-6FA8-1A69AF1A32D1}"/>
              </a:ext>
            </a:extLst>
          </p:cNvPr>
          <p:cNvSpPr>
            <a:spLocks noGrp="1"/>
          </p:cNvSpPr>
          <p:nvPr>
            <p:ph idx="1"/>
          </p:nvPr>
        </p:nvSpPr>
        <p:spPr>
          <a:xfrm>
            <a:off x="838200" y="625642"/>
            <a:ext cx="10515600" cy="6100011"/>
          </a:xfrm>
        </p:spPr>
        <p:txBody>
          <a:bodyPr>
            <a:normAutofit fontScale="70000" lnSpcReduction="20000"/>
          </a:bodyPr>
          <a:lstStyle/>
          <a:p>
            <a:pPr marL="0" indent="0">
              <a:buNone/>
            </a:pPr>
            <a:r>
              <a:rPr lang="en-US" dirty="0"/>
              <a:t>def softmax(x):</a:t>
            </a:r>
          </a:p>
          <a:p>
            <a:pPr marL="0" indent="0">
              <a:buNone/>
            </a:pPr>
            <a:r>
              <a:rPr lang="en-US" dirty="0"/>
              <a:t>    """Softmax activation: converts raw scores to probabilities</a:t>
            </a:r>
          </a:p>
          <a:p>
            <a:pPr marL="0" indent="0">
              <a:buNone/>
            </a:pPr>
            <a:r>
              <a:rPr lang="en-US" dirty="0"/>
              <a:t>    </a:t>
            </a:r>
          </a:p>
          <a:p>
            <a:pPr marL="0" indent="0">
              <a:buNone/>
            </a:pPr>
            <a:r>
              <a:rPr lang="en-US" dirty="0"/>
              <a:t>    </a:t>
            </a:r>
            <a:r>
              <a:rPr lang="en-US" dirty="0" err="1"/>
              <a:t>Args</a:t>
            </a:r>
            <a:r>
              <a:rPr lang="en-US" dirty="0"/>
              <a:t>:</a:t>
            </a:r>
          </a:p>
          <a:p>
            <a:pPr marL="0" indent="0">
              <a:buNone/>
            </a:pPr>
            <a:r>
              <a:rPr lang="en-US" dirty="0"/>
              <a:t>        x (</a:t>
            </a:r>
            <a:r>
              <a:rPr lang="en-US" dirty="0" err="1"/>
              <a:t>np.ndarray</a:t>
            </a:r>
            <a:r>
              <a:rPr lang="en-US" dirty="0"/>
              <a:t>): Raw scores (e.g., class predictions)</a:t>
            </a:r>
          </a:p>
          <a:p>
            <a:pPr marL="0" indent="0">
              <a:buNone/>
            </a:pPr>
            <a:r>
              <a:rPr lang="en-US" dirty="0"/>
              <a:t>    </a:t>
            </a:r>
          </a:p>
          <a:p>
            <a:pPr marL="0" indent="0">
              <a:buNone/>
            </a:pPr>
            <a:r>
              <a:rPr lang="en-US" dirty="0"/>
              <a:t>    Returns:</a:t>
            </a:r>
          </a:p>
          <a:p>
            <a:pPr marL="0" indent="0">
              <a:buNone/>
            </a:pPr>
            <a:r>
              <a:rPr lang="en-US" dirty="0"/>
              <a:t>        </a:t>
            </a:r>
            <a:r>
              <a:rPr lang="en-US" dirty="0" err="1"/>
              <a:t>np.ndarray</a:t>
            </a:r>
            <a:r>
              <a:rPr lang="en-US" dirty="0"/>
              <a:t>: Probabilities that sum to 1</a:t>
            </a:r>
          </a:p>
          <a:p>
            <a:pPr marL="0" indent="0">
              <a:buNone/>
            </a:pPr>
            <a:r>
              <a:rPr lang="en-US" dirty="0"/>
              <a:t>    """</a:t>
            </a:r>
          </a:p>
          <a:p>
            <a:pPr marL="0" indent="0">
              <a:buNone/>
            </a:pPr>
            <a:r>
              <a:rPr lang="en-US" dirty="0"/>
              <a:t>    # Numerical stability fix: subtract max(x) to prevent overflow</a:t>
            </a:r>
          </a:p>
          <a:p>
            <a:pPr marL="0" indent="0">
              <a:buNone/>
            </a:pPr>
            <a:r>
              <a:rPr lang="en-US" dirty="0"/>
              <a:t>    </a:t>
            </a:r>
            <a:r>
              <a:rPr lang="en-US" dirty="0" err="1"/>
              <a:t>exp_x</a:t>
            </a:r>
            <a:r>
              <a:rPr lang="en-US" dirty="0"/>
              <a:t> = </a:t>
            </a:r>
            <a:r>
              <a:rPr lang="en-US" dirty="0" err="1"/>
              <a:t>np.exp</a:t>
            </a:r>
            <a:r>
              <a:rPr lang="en-US" dirty="0"/>
              <a:t>(x - </a:t>
            </a:r>
            <a:r>
              <a:rPr lang="en-US" dirty="0" err="1"/>
              <a:t>np.max</a:t>
            </a:r>
            <a:r>
              <a:rPr lang="en-US" dirty="0"/>
              <a:t>(x)) </a:t>
            </a:r>
          </a:p>
          <a:p>
            <a:pPr marL="0" indent="0">
              <a:buNone/>
            </a:pPr>
            <a:r>
              <a:rPr lang="en-US" dirty="0"/>
              <a:t>    return </a:t>
            </a:r>
            <a:r>
              <a:rPr lang="en-US" dirty="0" err="1"/>
              <a:t>exp_x</a:t>
            </a:r>
            <a:r>
              <a:rPr lang="en-US" dirty="0"/>
              <a:t> / </a:t>
            </a:r>
            <a:r>
              <a:rPr lang="en-US" dirty="0" err="1"/>
              <a:t>np.sum</a:t>
            </a:r>
            <a:r>
              <a:rPr lang="en-US" dirty="0"/>
              <a:t>(</a:t>
            </a:r>
            <a:r>
              <a:rPr lang="en-US" dirty="0" err="1"/>
              <a:t>exp_x</a:t>
            </a:r>
            <a:r>
              <a:rPr lang="en-US" dirty="0"/>
              <a:t>)</a:t>
            </a:r>
          </a:p>
          <a:p>
            <a:pPr marL="0" indent="0">
              <a:buNone/>
            </a:pPr>
            <a:endParaRPr lang="en-US" dirty="0"/>
          </a:p>
          <a:p>
            <a:pPr marL="0" indent="0">
              <a:buNone/>
            </a:pPr>
            <a:r>
              <a:rPr lang="en-US" dirty="0"/>
              <a:t># Example: Classify wave types (0=low, 1=medium, 2=high)</a:t>
            </a:r>
          </a:p>
          <a:p>
            <a:pPr marL="0" indent="0">
              <a:buNone/>
            </a:pPr>
            <a:r>
              <a:rPr lang="en-US" dirty="0" err="1"/>
              <a:t>wave_scores</a:t>
            </a:r>
            <a:r>
              <a:rPr lang="en-US" dirty="0"/>
              <a:t> = </a:t>
            </a:r>
            <a:r>
              <a:rPr lang="en-US" dirty="0" err="1"/>
              <a:t>np.array</a:t>
            </a:r>
            <a:r>
              <a:rPr lang="en-US" dirty="0"/>
              <a:t>([1.5, -0.3, 2.8])  # Raw scores for 3 wave types</a:t>
            </a:r>
          </a:p>
          <a:p>
            <a:pPr marL="0" indent="0">
              <a:buNone/>
            </a:pPr>
            <a:endParaRPr lang="en-US" dirty="0"/>
          </a:p>
          <a:p>
            <a:pPr marL="0" indent="0">
              <a:buNone/>
            </a:pPr>
            <a:r>
              <a:rPr lang="en-US" dirty="0"/>
              <a:t>probabilities = softmax(</a:t>
            </a:r>
            <a:r>
              <a:rPr lang="en-US" dirty="0" err="1"/>
              <a:t>wave_scores</a:t>
            </a:r>
            <a:r>
              <a:rPr lang="en-US" dirty="0"/>
              <a:t>)</a:t>
            </a:r>
          </a:p>
          <a:p>
            <a:pPr marL="0" indent="0">
              <a:buNone/>
            </a:pPr>
            <a:endParaRPr lang="en-US" dirty="0"/>
          </a:p>
          <a:p>
            <a:pPr marL="0" indent="0">
              <a:buNone/>
            </a:pPr>
            <a:r>
              <a:rPr lang="en-US" dirty="0"/>
              <a:t>print(</a:t>
            </a:r>
            <a:r>
              <a:rPr lang="en-US" dirty="0" err="1"/>
              <a:t>f"Raw</a:t>
            </a:r>
            <a:r>
              <a:rPr lang="en-US" dirty="0"/>
              <a:t> scores: {</a:t>
            </a:r>
            <a:r>
              <a:rPr lang="en-US" dirty="0" err="1"/>
              <a:t>wave_scores</a:t>
            </a:r>
            <a:r>
              <a:rPr lang="en-US" dirty="0"/>
              <a:t>}")</a:t>
            </a:r>
          </a:p>
          <a:p>
            <a:pPr marL="0" indent="0">
              <a:buNone/>
            </a:pPr>
            <a:r>
              <a:rPr lang="en-US" dirty="0"/>
              <a:t>print(</a:t>
            </a:r>
            <a:r>
              <a:rPr lang="en-US" dirty="0" err="1"/>
              <a:t>f"Probabilities</a:t>
            </a:r>
            <a:r>
              <a:rPr lang="en-US" dirty="0"/>
              <a:t>: {probabilities}")</a:t>
            </a:r>
          </a:p>
          <a:p>
            <a:pPr marL="0" indent="0">
              <a:buNone/>
            </a:pPr>
            <a:endParaRPr lang="en-US" dirty="0"/>
          </a:p>
        </p:txBody>
      </p:sp>
      <p:sp>
        <p:nvSpPr>
          <p:cNvPr id="2" name="Footer Placeholder 1">
            <a:extLst>
              <a:ext uri="{FF2B5EF4-FFF2-40B4-BE49-F238E27FC236}">
                <a16:creationId xmlns:a16="http://schemas.microsoft.com/office/drawing/2014/main" id="{E658CD2A-CF6F-A8DA-4F48-98092F2C469E}"/>
              </a:ext>
            </a:extLst>
          </p:cNvPr>
          <p:cNvSpPr>
            <a:spLocks noGrp="1"/>
          </p:cNvSpPr>
          <p:nvPr>
            <p:ph type="ftr" sz="quarter" idx="11"/>
          </p:nvPr>
        </p:nvSpPr>
        <p:spPr/>
        <p:txBody>
          <a:bodyPr/>
          <a:lstStyle/>
          <a:p>
            <a:r>
              <a:rPr lang="en-US"/>
              <a:t>All Rights Reserved : Author @ Rajendra Phani</a:t>
            </a:r>
          </a:p>
        </p:txBody>
      </p:sp>
      <p:sp>
        <p:nvSpPr>
          <p:cNvPr id="4" name="Slide Number Placeholder 3">
            <a:extLst>
              <a:ext uri="{FF2B5EF4-FFF2-40B4-BE49-F238E27FC236}">
                <a16:creationId xmlns:a16="http://schemas.microsoft.com/office/drawing/2014/main" id="{CD8678A8-A0A9-6FF0-3C3C-B92FB5F6B542}"/>
              </a:ext>
            </a:extLst>
          </p:cNvPr>
          <p:cNvSpPr>
            <a:spLocks noGrp="1"/>
          </p:cNvSpPr>
          <p:nvPr>
            <p:ph type="sldNum" sz="quarter" idx="12"/>
          </p:nvPr>
        </p:nvSpPr>
        <p:spPr/>
        <p:txBody>
          <a:bodyPr/>
          <a:lstStyle/>
          <a:p>
            <a:fld id="{907420D2-4109-9D49-8EF9-D87C3079BF79}" type="slidenum">
              <a:rPr lang="en-US" smtClean="0"/>
              <a:t>16</a:t>
            </a:fld>
            <a:endParaRPr lang="en-US"/>
          </a:p>
        </p:txBody>
      </p:sp>
    </p:spTree>
    <p:extLst>
      <p:ext uri="{BB962C8B-B14F-4D97-AF65-F5344CB8AC3E}">
        <p14:creationId xmlns:p14="http://schemas.microsoft.com/office/powerpoint/2010/main" val="831979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a function&#10;&#10;AI-generated content may be incorrect.">
            <a:extLst>
              <a:ext uri="{FF2B5EF4-FFF2-40B4-BE49-F238E27FC236}">
                <a16:creationId xmlns:a16="http://schemas.microsoft.com/office/drawing/2014/main" id="{5C43B88E-B65F-DA95-4B4D-34F65D40DD9A}"/>
              </a:ext>
            </a:extLst>
          </p:cNvPr>
          <p:cNvPicPr>
            <a:picLocks noGrp="1" noChangeAspect="1"/>
          </p:cNvPicPr>
          <p:nvPr>
            <p:ph idx="1"/>
          </p:nvPr>
        </p:nvPicPr>
        <p:blipFill>
          <a:blip r:embed="rId2"/>
          <a:stretch>
            <a:fillRect/>
          </a:stretch>
        </p:blipFill>
        <p:spPr>
          <a:xfrm>
            <a:off x="1075038" y="605481"/>
            <a:ext cx="10169611" cy="5881815"/>
          </a:xfrm>
        </p:spPr>
      </p:pic>
      <p:sp>
        <p:nvSpPr>
          <p:cNvPr id="2" name="Footer Placeholder 1">
            <a:extLst>
              <a:ext uri="{FF2B5EF4-FFF2-40B4-BE49-F238E27FC236}">
                <a16:creationId xmlns:a16="http://schemas.microsoft.com/office/drawing/2014/main" id="{80AF08B9-2585-64C9-4A90-215273F98B15}"/>
              </a:ext>
            </a:extLst>
          </p:cNvPr>
          <p:cNvSpPr>
            <a:spLocks noGrp="1"/>
          </p:cNvSpPr>
          <p:nvPr>
            <p:ph type="ftr" sz="quarter" idx="11"/>
          </p:nvPr>
        </p:nvSpPr>
        <p:spPr/>
        <p:txBody>
          <a:bodyPr/>
          <a:lstStyle/>
          <a:p>
            <a:r>
              <a:rPr lang="en-US"/>
              <a:t>All Rights Reserved : Author @ Rajendra Phani</a:t>
            </a:r>
          </a:p>
        </p:txBody>
      </p:sp>
      <p:sp>
        <p:nvSpPr>
          <p:cNvPr id="3" name="Slide Number Placeholder 2">
            <a:extLst>
              <a:ext uri="{FF2B5EF4-FFF2-40B4-BE49-F238E27FC236}">
                <a16:creationId xmlns:a16="http://schemas.microsoft.com/office/drawing/2014/main" id="{8B588D50-B84E-1EAD-B97D-2C59F471CA23}"/>
              </a:ext>
            </a:extLst>
          </p:cNvPr>
          <p:cNvSpPr>
            <a:spLocks noGrp="1"/>
          </p:cNvSpPr>
          <p:nvPr>
            <p:ph type="sldNum" sz="quarter" idx="12"/>
          </p:nvPr>
        </p:nvSpPr>
        <p:spPr/>
        <p:txBody>
          <a:bodyPr/>
          <a:lstStyle/>
          <a:p>
            <a:fld id="{907420D2-4109-9D49-8EF9-D87C3079BF79}" type="slidenum">
              <a:rPr lang="en-US" smtClean="0"/>
              <a:t>17</a:t>
            </a:fld>
            <a:endParaRPr lang="en-US"/>
          </a:p>
        </p:txBody>
      </p:sp>
    </p:spTree>
    <p:extLst>
      <p:ext uri="{BB962C8B-B14F-4D97-AF65-F5344CB8AC3E}">
        <p14:creationId xmlns:p14="http://schemas.microsoft.com/office/powerpoint/2010/main" val="2126450092"/>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Badge</Template>
  <TotalTime>464</TotalTime>
  <Words>1970</Words>
  <Application>Microsoft Macintosh PowerPoint</Application>
  <PresentationFormat>Widescreen</PresentationFormat>
  <Paragraphs>178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Gill Sans MT</vt:lpstr>
      <vt:lpstr>Impact</vt:lpstr>
      <vt:lpstr>Badge</vt:lpstr>
      <vt:lpstr>Activation Functions</vt:lpstr>
      <vt:lpstr>1. ReLU (Rectified Linear Unit) </vt:lpstr>
      <vt:lpstr>PowerPoint Presentation</vt:lpstr>
      <vt:lpstr>PowerPoint Presentation</vt:lpstr>
      <vt:lpstr>Python Code Example </vt:lpstr>
      <vt:lpstr>2. Sigmoid Activation Function </vt:lpstr>
      <vt:lpstr>PowerPoint Presentation</vt:lpstr>
      <vt:lpstr>PowerPoint Presentation</vt:lpstr>
      <vt:lpstr>PowerPoint Presentation</vt:lpstr>
      <vt:lpstr>3. Tanh Activation Function </vt:lpstr>
      <vt:lpstr>PowerPoint Presentation</vt:lpstr>
      <vt:lpstr>PowerPoint Presentation</vt:lpstr>
      <vt:lpstr>PowerPoint Presentation</vt:lpstr>
      <vt:lpstr>4. Softmax Activation Function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phani rajendra</dc:creator>
  <cp:lastModifiedBy>phani rajendra</cp:lastModifiedBy>
  <cp:revision>3</cp:revision>
  <dcterms:created xsi:type="dcterms:W3CDTF">2025-11-17T11:55:22Z</dcterms:created>
  <dcterms:modified xsi:type="dcterms:W3CDTF">2025-11-25T15:13:59Z</dcterms:modified>
</cp:coreProperties>
</file>